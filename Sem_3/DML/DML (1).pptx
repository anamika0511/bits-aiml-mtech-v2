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7.jpg" ContentType="image/jpg"/>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 id="2147483668" r:id="rId5"/>
    <p:sldMasterId id="2147483670" r:id="rId6"/>
    <p:sldMasterId id="2147483672" r:id="rId7"/>
    <p:sldMasterId id="2147483678" r:id="rId8"/>
    <p:sldMasterId id="2147483680" r:id="rId9"/>
  </p:sldMasterIdLst>
  <p:notesMasterIdLst>
    <p:notesMasterId r:id="rId64"/>
  </p:notesMasterIdLst>
  <p:sldIdLst>
    <p:sldId id="315" r:id="rId10"/>
    <p:sldId id="316" r:id="rId11"/>
    <p:sldId id="317" r:id="rId12"/>
    <p:sldId id="318" r:id="rId13"/>
    <p:sldId id="379" r:id="rId14"/>
    <p:sldId id="399" r:id="rId15"/>
    <p:sldId id="452" r:id="rId16"/>
    <p:sldId id="321" r:id="rId17"/>
    <p:sldId id="400" r:id="rId18"/>
    <p:sldId id="322" r:id="rId19"/>
    <p:sldId id="405" r:id="rId20"/>
    <p:sldId id="453" r:id="rId21"/>
    <p:sldId id="451" r:id="rId22"/>
    <p:sldId id="454" r:id="rId23"/>
    <p:sldId id="455" r:id="rId24"/>
    <p:sldId id="456" r:id="rId25"/>
    <p:sldId id="457" r:id="rId26"/>
    <p:sldId id="458" r:id="rId27"/>
    <p:sldId id="459" r:id="rId28"/>
    <p:sldId id="460" r:id="rId29"/>
    <p:sldId id="461" r:id="rId30"/>
    <p:sldId id="462" r:id="rId31"/>
    <p:sldId id="463" r:id="rId32"/>
    <p:sldId id="464" r:id="rId33"/>
    <p:sldId id="465" r:id="rId34"/>
    <p:sldId id="466" r:id="rId35"/>
    <p:sldId id="467" r:id="rId36"/>
    <p:sldId id="468" r:id="rId37"/>
    <p:sldId id="469" r:id="rId38"/>
    <p:sldId id="477" r:id="rId39"/>
    <p:sldId id="470" r:id="rId40"/>
    <p:sldId id="471" r:id="rId41"/>
    <p:sldId id="472" r:id="rId42"/>
    <p:sldId id="473" r:id="rId43"/>
    <p:sldId id="474" r:id="rId44"/>
    <p:sldId id="475" r:id="rId45"/>
    <p:sldId id="476" r:id="rId46"/>
    <p:sldId id="478" r:id="rId47"/>
    <p:sldId id="480" r:id="rId48"/>
    <p:sldId id="479" r:id="rId49"/>
    <p:sldId id="481" r:id="rId50"/>
    <p:sldId id="482" r:id="rId51"/>
    <p:sldId id="483" r:id="rId52"/>
    <p:sldId id="484" r:id="rId53"/>
    <p:sldId id="485" r:id="rId54"/>
    <p:sldId id="486" r:id="rId55"/>
    <p:sldId id="487" r:id="rId56"/>
    <p:sldId id="488" r:id="rId57"/>
    <p:sldId id="489" r:id="rId58"/>
    <p:sldId id="490" r:id="rId59"/>
    <p:sldId id="491" r:id="rId60"/>
    <p:sldId id="492" r:id="rId61"/>
    <p:sldId id="493" r:id="rId62"/>
    <p:sldId id="494" r:id="rId6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53" autoAdjust="0"/>
  </p:normalViewPr>
  <p:slideViewPr>
    <p:cSldViewPr>
      <p:cViewPr varScale="1">
        <p:scale>
          <a:sx n="91" d="100"/>
          <a:sy n="91" d="100"/>
        </p:scale>
        <p:origin x="786" y="90"/>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33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openxmlformats.org/officeDocument/2006/relationships/slide" Target="slides/slide54.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23-06-2024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0" name="Google Shape;440;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42" name="Google Shape;442;p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2</a:t>
            </a:fld>
            <a:endParaRPr/>
          </a:p>
        </p:txBody>
      </p:sp>
    </p:spTree>
    <p:extLst>
      <p:ext uri="{BB962C8B-B14F-4D97-AF65-F5344CB8AC3E}">
        <p14:creationId xmlns:p14="http://schemas.microsoft.com/office/powerpoint/2010/main" val="1015437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7" name="Google Shape;4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228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124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7" name="Google Shape;477;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79" name="Google Shape;479;p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8</a:t>
            </a:fld>
            <a:endParaRPr/>
          </a:p>
        </p:txBody>
      </p:sp>
    </p:spTree>
    <p:extLst>
      <p:ext uri="{BB962C8B-B14F-4D97-AF65-F5344CB8AC3E}">
        <p14:creationId xmlns:p14="http://schemas.microsoft.com/office/powerpoint/2010/main" val="387244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7" name="Google Shape;4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15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477C2E1-0CBE-46AD-AE44-0D86F64F6CD7}" type="slidenum">
              <a:rPr lang="en-IN" smtClean="0"/>
              <a:t>26</a:t>
            </a:fld>
            <a:endParaRPr lang="en-IN"/>
          </a:p>
        </p:txBody>
      </p:sp>
    </p:spTree>
    <p:extLst>
      <p:ext uri="{BB962C8B-B14F-4D97-AF65-F5344CB8AC3E}">
        <p14:creationId xmlns:p14="http://schemas.microsoft.com/office/powerpoint/2010/main" val="890121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pic>
        <p:nvPicPr>
          <p:cNvPr id="33" name="Google Shape;33;p77" descr="\\Server\D\jyoti\FI023_BITS_v1\styleguide img\IMG_5627_b.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 name="Google Shape;34;p77"/>
          <p:cNvSpPr/>
          <p:nvPr/>
        </p:nvSpPr>
        <p:spPr>
          <a:xfrm>
            <a:off x="0" y="3211116"/>
            <a:ext cx="9144000" cy="1932384"/>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35" name="Google Shape;35;p77" descr="Picture 7.png"/>
          <p:cNvPicPr preferRelativeResize="0"/>
          <p:nvPr/>
        </p:nvPicPr>
        <p:blipFill rotWithShape="1">
          <a:blip r:embed="rId3">
            <a:alphaModFix/>
          </a:blip>
          <a:srcRect l="1923" b="5335"/>
          <a:stretch/>
        </p:blipFill>
        <p:spPr>
          <a:xfrm>
            <a:off x="6629401" y="0"/>
            <a:ext cx="2193925" cy="519113"/>
          </a:xfrm>
          <a:prstGeom prst="rect">
            <a:avLst/>
          </a:prstGeom>
          <a:noFill/>
          <a:ln>
            <a:noFill/>
          </a:ln>
        </p:spPr>
      </p:pic>
      <p:sp>
        <p:nvSpPr>
          <p:cNvPr id="36" name="Google Shape;36;p77"/>
          <p:cNvSpPr/>
          <p:nvPr/>
        </p:nvSpPr>
        <p:spPr>
          <a:xfrm>
            <a:off x="2882900" y="5081588"/>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7" name="Google Shape;37;p77"/>
          <p:cNvSpPr/>
          <p:nvPr/>
        </p:nvSpPr>
        <p:spPr>
          <a:xfrm>
            <a:off x="-12700" y="5081588"/>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8" name="Google Shape;38;p77"/>
          <p:cNvSpPr/>
          <p:nvPr/>
        </p:nvSpPr>
        <p:spPr>
          <a:xfrm>
            <a:off x="5778500" y="5081588"/>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9" name="Google Shape;39;p77"/>
          <p:cNvSpPr txBox="1"/>
          <p:nvPr/>
        </p:nvSpPr>
        <p:spPr>
          <a:xfrm>
            <a:off x="6858000" y="57150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40" name="Google Shape;40;p77"/>
          <p:cNvSpPr txBox="1"/>
          <p:nvPr/>
        </p:nvSpPr>
        <p:spPr>
          <a:xfrm>
            <a:off x="7086600" y="87868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41" name="Google Shape;41;p77"/>
          <p:cNvSpPr txBox="1">
            <a:spLocks noGrp="1"/>
          </p:cNvSpPr>
          <p:nvPr>
            <p:ph type="body" idx="1"/>
          </p:nvPr>
        </p:nvSpPr>
        <p:spPr>
          <a:xfrm>
            <a:off x="304800" y="3486150"/>
            <a:ext cx="8458200" cy="1200150"/>
          </a:xfrm>
          <a:prstGeom prst="rect">
            <a:avLst/>
          </a:prstGeom>
          <a:noFill/>
          <a:ln>
            <a:noFill/>
          </a:ln>
        </p:spPr>
        <p:txBody>
          <a:bodyPr spcFirstLastPara="1" wrap="square" lIns="91425" tIns="45700" rIns="91425" bIns="45700" anchor="t" anchorCtr="0">
            <a:noAutofit/>
          </a:bodyPr>
          <a:lstStyle>
            <a:lvl1pPr marL="342900" lvl="0" indent="-171450" algn="l">
              <a:lnSpc>
                <a:spcPct val="104999"/>
              </a:lnSpc>
              <a:spcBef>
                <a:spcPts val="0"/>
              </a:spcBef>
              <a:spcAft>
                <a:spcPts val="0"/>
              </a:spcAft>
              <a:buClr>
                <a:schemeClr val="dk1"/>
              </a:buClr>
              <a:buSzPts val="4000"/>
              <a:buNone/>
              <a:defRPr sz="30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849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91643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Tree>
    <p:extLst>
      <p:ext uri="{BB962C8B-B14F-4D97-AF65-F5344CB8AC3E}">
        <p14:creationId xmlns:p14="http://schemas.microsoft.com/office/powerpoint/2010/main" val="407979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2248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8673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8149" y="158877"/>
            <a:ext cx="8867700" cy="521970"/>
          </a:xfrm>
          <a:prstGeom prst="rect">
            <a:avLst/>
          </a:prstGeom>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6/23/2024</a:t>
            </a:fld>
            <a:endParaRPr lang="en-US"/>
          </a:p>
        </p:txBody>
      </p:sp>
      <p:sp>
        <p:nvSpPr>
          <p:cNvPr id="5" name="Holder 5"/>
          <p:cNvSpPr>
            <a:spLocks noGrp="1"/>
          </p:cNvSpPr>
          <p:nvPr>
            <p:ph type="sldNum" sz="quarter" idx="7"/>
          </p:nvPr>
        </p:nvSpPr>
        <p:spPr>
          <a:xfrm>
            <a:off x="8962272" y="4966097"/>
            <a:ext cx="179784" cy="155257"/>
          </a:xfrm>
          <a:prstGeom prst="rect">
            <a:avLst/>
          </a:prstGeom>
        </p:spPr>
        <p:txBody>
          <a:bodyPr lIns="0" tIns="0" rIns="0" bIns="0"/>
          <a:lstStyle>
            <a:lvl1pPr>
              <a:defRPr sz="825" b="0" i="0">
                <a:solidFill>
                  <a:schemeClr val="tx1"/>
                </a:solidFill>
                <a:latin typeface="Calibri"/>
                <a:cs typeface="Calibri"/>
              </a:defRPr>
            </a:lvl1pPr>
          </a:lstStyle>
          <a:p>
            <a:pPr marL="82867">
              <a:spcBef>
                <a:spcPts val="101"/>
              </a:spcBef>
            </a:pPr>
            <a:fld id="{81D60167-4931-47E6-BA6A-407CBD079E47}" type="slidenum">
              <a:rPr lang="en-IN" spc="-38" smtClean="0"/>
              <a:pPr marL="82867">
                <a:spcBef>
                  <a:spcPts val="101"/>
                </a:spcBef>
              </a:pPr>
              <a:t>‹#›</a:t>
            </a:fld>
            <a:endParaRPr lang="en-IN" spc="-38" dirty="0"/>
          </a:p>
        </p:txBody>
      </p:sp>
    </p:spTree>
    <p:extLst>
      <p:ext uri="{BB962C8B-B14F-4D97-AF65-F5344CB8AC3E}">
        <p14:creationId xmlns:p14="http://schemas.microsoft.com/office/powerpoint/2010/main" val="15498985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813298213"/>
      </p:ext>
    </p:extLst>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838423025"/>
      </p:ext>
    </p:extLst>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1836837675"/>
      </p:ext>
    </p:extLst>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3170282401"/>
      </p:ext>
    </p:extLst>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4">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781529995"/>
      </p:ext>
    </p:extLst>
  </p:cSld>
  <p:clrMap bg1="lt1" tx1="dk1" bg2="dk2" tx2="lt2" accent1="accent1" accent2="accent2" accent3="accent3" accent4="accent4" accent5="accent5" accent6="accent6" hlink="hlink" folHlink="folHlink"/>
  <p:sldLayoutIdLst>
    <p:sldLayoutId id="2147483681" r:id="rId1"/>
    <p:sldLayoutId id="214748372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
          <p:cNvSpPr txBox="1">
            <a:spLocks noGrp="1"/>
          </p:cNvSpPr>
          <p:nvPr>
            <p:ph type="title"/>
          </p:nvPr>
        </p:nvSpPr>
        <p:spPr>
          <a:xfrm>
            <a:off x="1828800" y="2552156"/>
            <a:ext cx="6875961" cy="705394"/>
          </a:xfrm>
          <a:prstGeom prst="rect">
            <a:avLst/>
          </a:prstGeom>
          <a:noFill/>
          <a:ln>
            <a:noFill/>
          </a:ln>
        </p:spPr>
        <p:txBody>
          <a:bodyPr spcFirstLastPara="1" wrap="square" lIns="68569" tIns="34275" rIns="68569" bIns="34275" anchor="ctr" anchorCtr="0">
            <a:noAutofit/>
          </a:bodyPr>
          <a:lstStyle/>
          <a:p>
            <a:pPr algn="ctr"/>
            <a:r>
              <a:rPr lang="en-US" sz="2400">
                <a:solidFill>
                  <a:srgbClr val="FFFF66"/>
                </a:solidFill>
                <a:latin typeface="Calibri"/>
                <a:ea typeface="Calibri"/>
                <a:cs typeface="Calibri"/>
                <a:sym typeface="Calibri"/>
              </a:rPr>
              <a:t>S2-23_AIMLCZG515: Distributed Machine Learning</a:t>
            </a:r>
            <a:endParaRPr sz="24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fontScale="92500"/>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Dr</a:t>
            </a:r>
            <a:r>
              <a:rPr lang="en-US" sz="2100">
                <a:solidFill>
                  <a:schemeClr val="lt1"/>
                </a:solidFill>
                <a:latin typeface="Calibri"/>
                <a:ea typeface="Calibri"/>
                <a:cs typeface="Calibri"/>
                <a:sym typeface="Calibri"/>
              </a:rPr>
              <a:t>. Chandra Sekhar V</a:t>
            </a:r>
            <a:endParaRPr dirty="0"/>
          </a:p>
          <a:p>
            <a:pPr marL="274320" indent="-192024" algn="r">
              <a:spcBef>
                <a:spcPts val="357"/>
              </a:spcBef>
              <a:buClr>
                <a:schemeClr val="accent1"/>
              </a:buClr>
              <a:buSzPct val="68000"/>
              <a:buNone/>
            </a:pPr>
            <a:r>
              <a:rPr lang="en-US" sz="2100">
                <a:solidFill>
                  <a:schemeClr val="lt1"/>
                </a:solidFill>
                <a:latin typeface="Calibri"/>
                <a:ea typeface="Calibri"/>
                <a:cs typeface="Calibri"/>
                <a:sym typeface="Calibri"/>
              </a:rPr>
              <a:t>Chandrasekhar.v@pilani.bits-pilani.ac.in</a:t>
            </a:r>
            <a:endParaRPr sz="2100" dirty="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
          <p:cNvSpPr txBox="1">
            <a:spLocks noGrp="1"/>
          </p:cNvSpPr>
          <p:nvPr>
            <p:ph type="body" idx="1"/>
          </p:nvPr>
        </p:nvSpPr>
        <p:spPr>
          <a:xfrm>
            <a:off x="1371600" y="3314700"/>
            <a:ext cx="6343650" cy="1657350"/>
          </a:xfrm>
          <a:prstGeom prst="rect">
            <a:avLst/>
          </a:prstGeom>
          <a:noFill/>
          <a:ln>
            <a:noFill/>
          </a:ln>
        </p:spPr>
        <p:txBody>
          <a:bodyPr spcFirstLastPara="1" wrap="square" lIns="68569" tIns="34275" rIns="68569" bIns="34275" anchor="t" anchorCtr="0">
            <a:normAutofit fontScale="70000" lnSpcReduction="20000"/>
          </a:bodyPr>
          <a:lstStyle/>
          <a:p>
            <a:pPr marL="274320" indent="-192024" algn="ctr">
              <a:lnSpc>
                <a:spcPct val="100000"/>
              </a:lnSpc>
              <a:buClr>
                <a:schemeClr val="accent1"/>
              </a:buClr>
              <a:buSzPct val="68000"/>
            </a:pPr>
            <a:r>
              <a:rPr lang="en-US" sz="2700" dirty="0">
                <a:latin typeface="Calibri"/>
                <a:ea typeface="Calibri"/>
                <a:cs typeface="Calibri"/>
                <a:sym typeface="Calibri"/>
              </a:rPr>
              <a:t>Session 1</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Date – 25</a:t>
            </a:r>
            <a:r>
              <a:rPr lang="en-US" sz="2700" baseline="30000" dirty="0">
                <a:latin typeface="Calibri"/>
                <a:ea typeface="Calibri"/>
                <a:cs typeface="Calibri"/>
                <a:sym typeface="Calibri"/>
              </a:rPr>
              <a:t>th</a:t>
            </a:r>
            <a:r>
              <a:rPr lang="en-US" sz="2700" dirty="0">
                <a:latin typeface="Calibri"/>
                <a:ea typeface="Calibri"/>
                <a:cs typeface="Calibri"/>
                <a:sym typeface="Calibri"/>
              </a:rPr>
              <a:t> May 2024</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Time </a:t>
            </a:r>
            <a:r>
              <a:rPr lang="en-US" sz="2700">
                <a:latin typeface="Calibri"/>
                <a:ea typeface="Calibri"/>
                <a:cs typeface="Calibri"/>
                <a:sym typeface="Calibri"/>
              </a:rPr>
              <a:t>–  1:40 PM to 3:40 </a:t>
            </a:r>
            <a:r>
              <a:rPr lang="en-US" sz="2700" dirty="0">
                <a:latin typeface="Calibri"/>
                <a:ea typeface="Calibri"/>
                <a:cs typeface="Calibri"/>
                <a:sym typeface="Calibri"/>
              </a:rPr>
              <a:t>PM</a:t>
            </a:r>
          </a:p>
          <a:p>
            <a:pPr marL="274320" indent="-192024" algn="ctr">
              <a:lnSpc>
                <a:spcPct val="100000"/>
              </a:lnSpc>
              <a:buClr>
                <a:schemeClr val="accent1"/>
              </a:buClr>
              <a:buSzPct val="68000"/>
            </a:pPr>
            <a:endParaRPr dirty="0"/>
          </a:p>
          <a:p>
            <a:pPr marL="0" marR="132398" indent="0">
              <a:lnSpc>
                <a:spcPct val="120000"/>
              </a:lnSpc>
              <a:spcBef>
                <a:spcPts val="878"/>
              </a:spcBef>
              <a:buSzPct val="100000"/>
            </a:pPr>
            <a:r>
              <a:rPr lang="en-US" sz="1950" b="0" dirty="0">
                <a:latin typeface="Calibri"/>
                <a:ea typeface="Calibri"/>
                <a:cs typeface="Calibri"/>
                <a:sym typeface="Calibri"/>
              </a:rPr>
              <a:t>These slides are prepared by the instructor, with grateful acknowledgement of many others who made  their course materials freely available online.</a:t>
            </a:r>
            <a:endParaRPr dirty="0"/>
          </a:p>
          <a:p>
            <a:pPr marL="0" indent="0">
              <a:lnSpc>
                <a:spcPct val="117083"/>
              </a:lnSpc>
              <a:buSzPct val="100000"/>
            </a:pPr>
            <a:endParaRPr sz="2400" dirty="0">
              <a:latin typeface="Trebuchet MS"/>
              <a:ea typeface="Trebuchet MS"/>
              <a:cs typeface="Trebuchet MS"/>
              <a:sym typeface="Trebuchet MS"/>
            </a:endParaRPr>
          </a:p>
          <a:p>
            <a:pPr marL="274320" indent="-192024" algn="ctr">
              <a:lnSpc>
                <a:spcPct val="100000"/>
              </a:lnSpc>
              <a:buClr>
                <a:schemeClr val="accent1"/>
              </a:buClr>
              <a:buSzPct val="68000"/>
            </a:pPr>
            <a:endParaRPr sz="270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
          <p:cNvSpPr txBox="1">
            <a:spLocks noGrp="1"/>
          </p:cNvSpPr>
          <p:nvPr>
            <p:ph type="body" idx="1"/>
          </p:nvPr>
        </p:nvSpPr>
        <p:spPr>
          <a:xfrm>
            <a:off x="1371600" y="1120378"/>
            <a:ext cx="6172200" cy="3394472"/>
          </a:xfrm>
          <a:prstGeom prst="rect">
            <a:avLst/>
          </a:prstGeom>
          <a:noFill/>
          <a:ln>
            <a:noFill/>
          </a:ln>
        </p:spPr>
        <p:txBody>
          <a:bodyPr spcFirstLastPara="1" wrap="square" lIns="68569" tIns="34275" rIns="68569" bIns="34275" anchor="t" anchorCtr="0">
            <a:noAutofit/>
          </a:bodyPr>
          <a:lstStyle/>
          <a:p>
            <a:pPr marL="257175" indent="-257175">
              <a:spcBef>
                <a:spcPts val="0"/>
              </a:spcBef>
              <a:buSzPts val="3200"/>
              <a:buFont typeface="Arial"/>
              <a:buChar char="•"/>
            </a:pPr>
            <a:r>
              <a:rPr lang="en-US" sz="2400" dirty="0"/>
              <a:t>Objective of course</a:t>
            </a:r>
          </a:p>
          <a:p>
            <a:pPr marL="257175" indent="-257175">
              <a:spcBef>
                <a:spcPts val="0"/>
              </a:spcBef>
              <a:buSzPts val="3200"/>
              <a:buFont typeface="Arial"/>
              <a:buChar char="•"/>
            </a:pPr>
            <a:endParaRPr dirty="0"/>
          </a:p>
          <a:p>
            <a:pPr marL="257175" indent="-257175">
              <a:spcBef>
                <a:spcPts val="480"/>
              </a:spcBef>
              <a:buSzPts val="3200"/>
              <a:buFont typeface="Arial"/>
              <a:buChar char="•"/>
            </a:pPr>
            <a:r>
              <a:rPr lang="en-US" sz="2400" dirty="0"/>
              <a:t>Evaluation Plan</a:t>
            </a:r>
          </a:p>
          <a:p>
            <a:pPr marL="257175" indent="-257175">
              <a:spcBef>
                <a:spcPts val="480"/>
              </a:spcBef>
              <a:buSzPts val="3200"/>
              <a:buFont typeface="Arial"/>
              <a:buChar char="•"/>
            </a:pPr>
            <a:endParaRPr lang="en-US" sz="2400" dirty="0"/>
          </a:p>
          <a:p>
            <a:pPr marL="257175" indent="-257175">
              <a:spcBef>
                <a:spcPts val="480"/>
              </a:spcBef>
              <a:buSzPts val="3200"/>
              <a:buFont typeface="Arial"/>
              <a:buChar char="•"/>
            </a:pPr>
            <a:r>
              <a:rPr lang="en-US" sz="2400" dirty="0"/>
              <a:t>Course Overview</a:t>
            </a:r>
          </a:p>
        </p:txBody>
      </p:sp>
      <p:sp>
        <p:nvSpPr>
          <p:cNvPr id="450" name="Google Shape;450;p3"/>
          <p:cNvSpPr txBox="1">
            <a:spLocks noGrp="1"/>
          </p:cNvSpPr>
          <p:nvPr>
            <p:ph type="body" idx="2"/>
          </p:nvPr>
        </p:nvSpPr>
        <p:spPr>
          <a:xfrm>
            <a:off x="1371600" y="114300"/>
            <a:ext cx="4743450" cy="857250"/>
          </a:xfrm>
          <a:prstGeom prst="rect">
            <a:avLst/>
          </a:prstGeom>
          <a:noFill/>
          <a:ln>
            <a:noFill/>
          </a:ln>
        </p:spPr>
        <p:txBody>
          <a:bodyPr spcFirstLastPara="1" wrap="square" lIns="68569" tIns="34275" rIns="68569" bIns="34275" anchor="ctr" anchorCtr="0">
            <a:normAutofit/>
          </a:bodyPr>
          <a:lstStyle/>
          <a:p>
            <a:pPr marL="0" indent="0"/>
            <a:r>
              <a:rPr lang="en-US" sz="2800" b="0" dirty="0">
                <a:latin typeface="Calibri" panose="020F0502020204030204" pitchFamily="34" charset="0"/>
                <a:cs typeface="Calibri" panose="020F0502020204030204" pitchFamily="34" charset="0"/>
              </a:rPr>
              <a:t>Session Content</a:t>
            </a:r>
            <a:endParaRPr sz="2800" b="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
          <p:cNvSpPr txBox="1"/>
          <p:nvPr/>
        </p:nvSpPr>
        <p:spPr>
          <a:xfrm>
            <a:off x="1143000" y="394469"/>
            <a:ext cx="5181599" cy="500107"/>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2800" kern="0" dirty="0">
                <a:solidFill>
                  <a:srgbClr val="000000"/>
                </a:solidFill>
                <a:latin typeface="Calibri"/>
                <a:ea typeface="Calibri"/>
                <a:cs typeface="Calibri"/>
                <a:sym typeface="Calibri"/>
              </a:rPr>
              <a:t>Objectives of the course </a:t>
            </a:r>
            <a:endParaRPr sz="900" kern="0" dirty="0">
              <a:solidFill>
                <a:srgbClr val="000000"/>
              </a:solidFill>
              <a:cs typeface="Arial"/>
              <a:sym typeface="Arial"/>
            </a:endParaRPr>
          </a:p>
        </p:txBody>
      </p:sp>
      <p:sp>
        <p:nvSpPr>
          <p:cNvPr id="3" name="TextBox 2"/>
          <p:cNvSpPr txBox="1"/>
          <p:nvPr/>
        </p:nvSpPr>
        <p:spPr>
          <a:xfrm>
            <a:off x="457200" y="1352550"/>
            <a:ext cx="7200899" cy="2308324"/>
          </a:xfrm>
          <a:prstGeom prst="rect">
            <a:avLst/>
          </a:prstGeom>
          <a:noFill/>
        </p:spPr>
        <p:txBody>
          <a:bodyPr wrap="square" rtlCol="0">
            <a:spAutoFit/>
          </a:bodyPr>
          <a:lstStyle/>
          <a:p>
            <a:pPr lvl="0"/>
            <a:r>
              <a:rPr lang="en-IN" sz="2400" dirty="0">
                <a:latin typeface="Times New Roman" panose="02020603050405020304" pitchFamily="18" charset="0"/>
                <a:cs typeface="Times New Roman" panose="02020603050405020304" pitchFamily="18" charset="0"/>
              </a:rPr>
              <a:t>Introduce you to the foundational concepts of</a:t>
            </a:r>
          </a:p>
          <a:p>
            <a:pPr lvl="0"/>
            <a:endParaRPr lang="en-IN" sz="2000" dirty="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Foundations of Parallel and Distributed Computing</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Data Parallelism vs. Model Parallelism</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Algorithm Scaling Examples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Distributed Deep Learning Algorithms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Federated Learning</a:t>
            </a: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2000" y="416080"/>
            <a:ext cx="8867700" cy="391774"/>
          </a:xfrm>
          <a:prstGeom prst="rect">
            <a:avLst/>
          </a:prstGeom>
        </p:spPr>
        <p:txBody>
          <a:bodyPr spcFirstLastPara="1" vert="horz" wrap="square" lIns="0" tIns="9525" rIns="0" bIns="0" rtlCol="0" anchor="ctr" anchorCtr="0">
            <a:spAutoFit/>
          </a:bodyPr>
          <a:lstStyle/>
          <a:p>
            <a:pPr marL="224314">
              <a:spcBef>
                <a:spcPts val="75"/>
              </a:spcBef>
            </a:pPr>
            <a:r>
              <a:rPr spc="49" dirty="0">
                <a:solidFill>
                  <a:schemeClr val="tx1"/>
                </a:solidFill>
              </a:rPr>
              <a:t>Welcome</a:t>
            </a:r>
            <a:r>
              <a:rPr spc="-86" dirty="0">
                <a:solidFill>
                  <a:schemeClr val="tx1"/>
                </a:solidFill>
              </a:rPr>
              <a:t> </a:t>
            </a:r>
            <a:r>
              <a:rPr spc="188">
                <a:solidFill>
                  <a:schemeClr val="tx1"/>
                </a:solidFill>
              </a:rPr>
              <a:t>to</a:t>
            </a:r>
            <a:r>
              <a:rPr spc="-90">
                <a:solidFill>
                  <a:schemeClr val="tx1"/>
                </a:solidFill>
              </a:rPr>
              <a:t> </a:t>
            </a:r>
            <a:r>
              <a:rPr lang="en-US" spc="-49">
                <a:solidFill>
                  <a:schemeClr val="tx1"/>
                </a:solidFill>
              </a:rPr>
              <a:t>AIMLCZG515</a:t>
            </a:r>
            <a:endParaRPr spc="-49" dirty="0">
              <a:solidFill>
                <a:schemeClr val="tx1"/>
              </a:solidFill>
            </a:endParaRPr>
          </a:p>
        </p:txBody>
      </p:sp>
      <p:sp>
        <p:nvSpPr>
          <p:cNvPr id="5" name="object 5"/>
          <p:cNvSpPr txBox="1"/>
          <p:nvPr/>
        </p:nvSpPr>
        <p:spPr>
          <a:xfrm>
            <a:off x="685800" y="3270617"/>
            <a:ext cx="7534200" cy="641201"/>
          </a:xfrm>
          <a:prstGeom prst="rect">
            <a:avLst/>
          </a:prstGeom>
        </p:spPr>
        <p:txBody>
          <a:bodyPr vert="horz" wrap="square" lIns="0" tIns="0" rIns="0" bIns="0" rtlCol="0">
            <a:spAutoFit/>
          </a:bodyPr>
          <a:lstStyle/>
          <a:p>
            <a:pPr marL="180975" indent="-171450">
              <a:lnSpc>
                <a:spcPts val="2505"/>
              </a:lnSpc>
            </a:pPr>
            <a:r>
              <a:rPr sz="2100" dirty="0">
                <a:latin typeface="Arial"/>
                <a:cs typeface="Arial"/>
              </a:rPr>
              <a:t>•</a:t>
            </a:r>
            <a:r>
              <a:rPr sz="2100" spc="38" dirty="0">
                <a:latin typeface="Arial"/>
                <a:cs typeface="Arial"/>
              </a:rPr>
              <a:t> </a:t>
            </a:r>
            <a:r>
              <a:rPr sz="2100" spc="116" dirty="0">
                <a:latin typeface="Calibri"/>
                <a:cs typeface="Calibri"/>
              </a:rPr>
              <a:t>You</a:t>
            </a:r>
            <a:r>
              <a:rPr sz="2100" spc="113" dirty="0">
                <a:latin typeface="Calibri"/>
                <a:cs typeface="Calibri"/>
              </a:rPr>
              <a:t> </a:t>
            </a:r>
            <a:r>
              <a:rPr sz="2100" spc="45" dirty="0">
                <a:latin typeface="Calibri"/>
                <a:cs typeface="Calibri"/>
              </a:rPr>
              <a:t>will</a:t>
            </a:r>
            <a:r>
              <a:rPr sz="2100" spc="116" dirty="0">
                <a:latin typeface="Calibri"/>
                <a:cs typeface="Calibri"/>
              </a:rPr>
              <a:t> </a:t>
            </a:r>
            <a:r>
              <a:rPr sz="2100" spc="64" dirty="0">
                <a:latin typeface="Calibri"/>
                <a:cs typeface="Calibri"/>
              </a:rPr>
              <a:t>develop</a:t>
            </a:r>
            <a:r>
              <a:rPr sz="2100" spc="113" dirty="0">
                <a:latin typeface="Calibri"/>
                <a:cs typeface="Calibri"/>
              </a:rPr>
              <a:t> </a:t>
            </a:r>
            <a:r>
              <a:rPr sz="2100" spc="45" dirty="0">
                <a:latin typeface="Calibri"/>
                <a:cs typeface="Calibri"/>
              </a:rPr>
              <a:t>fundamental</a:t>
            </a:r>
            <a:r>
              <a:rPr lang="en-US" sz="2100" dirty="0">
                <a:latin typeface="Calibri"/>
                <a:cs typeface="Calibri"/>
              </a:rPr>
              <a:t> </a:t>
            </a:r>
            <a:r>
              <a:rPr sz="2100" spc="49" dirty="0">
                <a:latin typeface="Calibri"/>
                <a:cs typeface="Calibri"/>
              </a:rPr>
              <a:t>and</a:t>
            </a:r>
            <a:r>
              <a:rPr sz="2100" spc="116" dirty="0">
                <a:latin typeface="Calibri"/>
                <a:cs typeface="Calibri"/>
              </a:rPr>
              <a:t> </a:t>
            </a:r>
            <a:r>
              <a:rPr sz="2100" spc="38" dirty="0">
                <a:latin typeface="Calibri"/>
                <a:cs typeface="Calibri"/>
              </a:rPr>
              <a:t>practical</a:t>
            </a:r>
            <a:r>
              <a:rPr sz="2100" spc="127" dirty="0">
                <a:latin typeface="Calibri"/>
                <a:cs typeface="Calibri"/>
              </a:rPr>
              <a:t> </a:t>
            </a:r>
            <a:r>
              <a:rPr sz="2100" spc="79">
                <a:latin typeface="Calibri"/>
                <a:cs typeface="Calibri"/>
              </a:rPr>
              <a:t>skills</a:t>
            </a:r>
            <a:r>
              <a:rPr sz="2100" spc="124">
                <a:latin typeface="Calibri"/>
                <a:cs typeface="Calibri"/>
              </a:rPr>
              <a:t> </a:t>
            </a:r>
            <a:r>
              <a:rPr lang="en-US" sz="2100" spc="124">
                <a:latin typeface="Calibri"/>
                <a:cs typeface="Calibri"/>
              </a:rPr>
              <a:t>in developing scaling machine learning algorithms</a:t>
            </a:r>
            <a:r>
              <a:rPr sz="2100" spc="64">
                <a:latin typeface="Calibri"/>
                <a:cs typeface="Calibri"/>
              </a:rPr>
              <a:t>.</a:t>
            </a:r>
            <a:endParaRPr sz="2100" dirty="0">
              <a:latin typeface="Calibri"/>
              <a:cs typeface="Calibri"/>
            </a:endParaRPr>
          </a:p>
        </p:txBody>
      </p:sp>
      <p:sp>
        <p:nvSpPr>
          <p:cNvPr id="4" name="object 4"/>
          <p:cNvSpPr txBox="1"/>
          <p:nvPr/>
        </p:nvSpPr>
        <p:spPr>
          <a:xfrm>
            <a:off x="685800" y="1179224"/>
            <a:ext cx="7534200" cy="1720023"/>
          </a:xfrm>
          <a:prstGeom prst="rect">
            <a:avLst/>
          </a:prstGeom>
        </p:spPr>
        <p:txBody>
          <a:bodyPr vert="horz" wrap="square" lIns="0" tIns="4763" rIns="0" bIns="0" rtlCol="0">
            <a:spAutoFit/>
          </a:bodyPr>
          <a:lstStyle/>
          <a:p>
            <a:pPr marL="180975" marR="3810" indent="-171450">
              <a:lnSpc>
                <a:spcPct val="101400"/>
              </a:lnSpc>
              <a:spcBef>
                <a:spcPts val="38"/>
              </a:spcBef>
              <a:buFont typeface="Arial"/>
              <a:buChar char="•"/>
              <a:tabLst>
                <a:tab pos="180975" algn="l"/>
              </a:tabLst>
            </a:pPr>
            <a:r>
              <a:rPr sz="2100" spc="98" dirty="0">
                <a:latin typeface="Calibri"/>
                <a:cs typeface="Calibri"/>
              </a:rPr>
              <a:t>This</a:t>
            </a:r>
            <a:r>
              <a:rPr sz="2100" spc="109" dirty="0">
                <a:latin typeface="Calibri"/>
                <a:cs typeface="Calibri"/>
              </a:rPr>
              <a:t> courses </a:t>
            </a:r>
            <a:r>
              <a:rPr sz="2100" spc="116" dirty="0">
                <a:latin typeface="Calibri"/>
                <a:cs typeface="Calibri"/>
              </a:rPr>
              <a:t>gives</a:t>
            </a:r>
            <a:r>
              <a:rPr sz="2100" spc="109" dirty="0">
                <a:latin typeface="Calibri"/>
                <a:cs typeface="Calibri"/>
              </a:rPr>
              <a:t> </a:t>
            </a:r>
            <a:r>
              <a:rPr sz="2100" spc="53" dirty="0">
                <a:latin typeface="Calibri"/>
                <a:cs typeface="Calibri"/>
              </a:rPr>
              <a:t>an</a:t>
            </a:r>
            <a:r>
              <a:rPr sz="2100" spc="105" dirty="0">
                <a:latin typeface="Calibri"/>
                <a:cs typeface="Calibri"/>
              </a:rPr>
              <a:t> </a:t>
            </a:r>
            <a:r>
              <a:rPr sz="2100" spc="71" dirty="0">
                <a:latin typeface="Calibri"/>
                <a:cs typeface="Calibri"/>
              </a:rPr>
              <a:t>overview </a:t>
            </a:r>
            <a:r>
              <a:rPr sz="2100" spc="45">
                <a:latin typeface="Calibri"/>
                <a:cs typeface="Calibri"/>
              </a:rPr>
              <a:t>of</a:t>
            </a:r>
            <a:r>
              <a:rPr sz="2100" spc="105">
                <a:latin typeface="Calibri"/>
                <a:cs typeface="Calibri"/>
              </a:rPr>
              <a:t> </a:t>
            </a:r>
            <a:r>
              <a:rPr lang="en-US" sz="2100" spc="105">
                <a:latin typeface="Calibri"/>
                <a:cs typeface="Calibri"/>
              </a:rPr>
              <a:t>Distributed Machine Learning</a:t>
            </a:r>
            <a:r>
              <a:rPr sz="2100" spc="53">
                <a:latin typeface="Calibri"/>
                <a:cs typeface="Calibri"/>
              </a:rPr>
              <a:t>,</a:t>
            </a:r>
            <a:endParaRPr lang="en-US" sz="2100" spc="53" dirty="0">
              <a:latin typeface="Calibri"/>
              <a:cs typeface="Calibri"/>
            </a:endParaRPr>
          </a:p>
          <a:p>
            <a:pPr marL="180975" marR="3810" indent="-171450">
              <a:lnSpc>
                <a:spcPct val="101400"/>
              </a:lnSpc>
              <a:spcBef>
                <a:spcPts val="38"/>
              </a:spcBef>
              <a:buFont typeface="Arial"/>
              <a:buChar char="•"/>
              <a:tabLst>
                <a:tab pos="180975" algn="l"/>
              </a:tabLst>
            </a:pPr>
            <a:endParaRPr sz="2100" dirty="0">
              <a:latin typeface="Calibri"/>
              <a:cs typeface="Calibri"/>
            </a:endParaRPr>
          </a:p>
          <a:p>
            <a:pPr marL="180499" indent="-170974">
              <a:spcBef>
                <a:spcPts val="701"/>
              </a:spcBef>
              <a:buFont typeface="Arial"/>
              <a:buChar char="•"/>
              <a:tabLst>
                <a:tab pos="180499" algn="l"/>
              </a:tabLst>
            </a:pPr>
            <a:r>
              <a:rPr sz="2100" spc="53" dirty="0">
                <a:latin typeface="Calibri"/>
                <a:cs typeface="Calibri"/>
              </a:rPr>
              <a:t>In</a:t>
            </a:r>
            <a:r>
              <a:rPr sz="2100" spc="158" dirty="0">
                <a:latin typeface="Calibri"/>
                <a:cs typeface="Calibri"/>
              </a:rPr>
              <a:t> </a:t>
            </a:r>
            <a:r>
              <a:rPr sz="2100" dirty="0">
                <a:latin typeface="Calibri"/>
                <a:cs typeface="Calibri"/>
              </a:rPr>
              <a:t>particular,</a:t>
            </a:r>
            <a:r>
              <a:rPr sz="2100" spc="158" dirty="0">
                <a:latin typeface="Calibri"/>
                <a:cs typeface="Calibri"/>
              </a:rPr>
              <a:t> </a:t>
            </a:r>
            <a:r>
              <a:rPr sz="2100" spc="176" dirty="0">
                <a:latin typeface="Calibri"/>
                <a:cs typeface="Calibri"/>
              </a:rPr>
              <a:t>we</a:t>
            </a:r>
            <a:r>
              <a:rPr sz="2100" spc="158" dirty="0">
                <a:latin typeface="Calibri"/>
                <a:cs typeface="Calibri"/>
              </a:rPr>
              <a:t> </a:t>
            </a:r>
            <a:r>
              <a:rPr sz="2100" spc="45" dirty="0">
                <a:latin typeface="Calibri"/>
                <a:cs typeface="Calibri"/>
              </a:rPr>
              <a:t>will</a:t>
            </a:r>
            <a:r>
              <a:rPr sz="2100" spc="165" dirty="0">
                <a:latin typeface="Calibri"/>
                <a:cs typeface="Calibri"/>
              </a:rPr>
              <a:t> </a:t>
            </a:r>
            <a:r>
              <a:rPr sz="2100" spc="75">
                <a:latin typeface="Calibri"/>
                <a:cs typeface="Calibri"/>
              </a:rPr>
              <a:t>cover</a:t>
            </a:r>
            <a:r>
              <a:rPr sz="2100" spc="161">
                <a:latin typeface="Calibri"/>
                <a:cs typeface="Calibri"/>
              </a:rPr>
              <a:t> </a:t>
            </a:r>
            <a:r>
              <a:rPr sz="2100" spc="68">
                <a:latin typeface="Calibri"/>
                <a:cs typeface="Calibri"/>
              </a:rPr>
              <a:t>d</a:t>
            </a:r>
            <a:r>
              <a:rPr lang="en-US" sz="2100" spc="68">
                <a:latin typeface="Calibri"/>
                <a:cs typeface="Calibri"/>
              </a:rPr>
              <a:t>istributed machine learning algorithms</a:t>
            </a:r>
            <a:r>
              <a:rPr sz="2100" spc="60">
                <a:latin typeface="Calibri"/>
                <a:cs typeface="Calibri"/>
              </a:rPr>
              <a:t>.</a:t>
            </a:r>
            <a:endParaRPr sz="21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a:t>Text</a:t>
            </a:r>
            <a:r>
              <a:rPr spc="-71" dirty="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a:latin typeface="Calibri"/>
                <a:cs typeface="Calibri"/>
              </a:rPr>
              <a:t>Yuan Tang</a:t>
            </a:r>
            <a:r>
              <a:rPr sz="2100" spc="45">
                <a:latin typeface="Calibri"/>
                <a:cs typeface="Calibri"/>
              </a:rPr>
              <a:t>, </a:t>
            </a:r>
            <a:r>
              <a:rPr sz="2100" spc="127">
                <a:latin typeface="Calibri"/>
                <a:cs typeface="Calibri"/>
              </a:rPr>
              <a:t>D</a:t>
            </a:r>
            <a:r>
              <a:rPr lang="en-US" sz="2100" spc="127">
                <a:latin typeface="Calibri"/>
                <a:cs typeface="Calibri"/>
              </a:rPr>
              <a:t>istributed Machine Learning patterns, Manning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5" name="Picture 4"/>
          <p:cNvPicPr>
            <a:picLocks noChangeAspect="1"/>
          </p:cNvPicPr>
          <p:nvPr/>
        </p:nvPicPr>
        <p:blipFill>
          <a:blip r:embed="rId2"/>
          <a:stretch>
            <a:fillRect/>
          </a:stretch>
        </p:blipFill>
        <p:spPr>
          <a:xfrm>
            <a:off x="5326792" y="0"/>
            <a:ext cx="3848100" cy="4838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a:t>Text</a:t>
            </a:r>
            <a:r>
              <a:rPr spc="-71" dirty="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a:latin typeface="Calibri"/>
                <a:cs typeface="Calibri"/>
              </a:rPr>
              <a:t>Guanhua Wang</a:t>
            </a:r>
            <a:r>
              <a:rPr sz="2100" spc="45">
                <a:latin typeface="Calibri"/>
                <a:cs typeface="Calibri"/>
              </a:rPr>
              <a:t>, </a:t>
            </a:r>
            <a:r>
              <a:rPr sz="2100" spc="127">
                <a:latin typeface="Calibri"/>
                <a:cs typeface="Calibri"/>
              </a:rPr>
              <a:t>D</a:t>
            </a:r>
            <a:r>
              <a:rPr lang="en-US" sz="2100" spc="127">
                <a:latin typeface="Calibri"/>
                <a:cs typeface="Calibri"/>
              </a:rPr>
              <a:t>istributed Machine Learning with python, Packt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4" name="Picture 3"/>
          <p:cNvPicPr>
            <a:picLocks noChangeAspect="1"/>
          </p:cNvPicPr>
          <p:nvPr/>
        </p:nvPicPr>
        <p:blipFill>
          <a:blip r:embed="rId2"/>
          <a:stretch>
            <a:fillRect/>
          </a:stretch>
        </p:blipFill>
        <p:spPr>
          <a:xfrm>
            <a:off x="5638800" y="819150"/>
            <a:ext cx="3505200" cy="4114800"/>
          </a:xfrm>
          <a:prstGeom prst="rect">
            <a:avLst/>
          </a:prstGeom>
        </p:spPr>
      </p:pic>
    </p:spTree>
    <p:extLst>
      <p:ext uri="{BB962C8B-B14F-4D97-AF65-F5344CB8AC3E}">
        <p14:creationId xmlns:p14="http://schemas.microsoft.com/office/powerpoint/2010/main" val="31359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
          <p:cNvSpPr txBox="1">
            <a:spLocks noGrp="1"/>
          </p:cNvSpPr>
          <p:nvPr>
            <p:ph type="title"/>
          </p:nvPr>
        </p:nvSpPr>
        <p:spPr>
          <a:xfrm>
            <a:off x="838200" y="361950"/>
            <a:ext cx="5486400" cy="637580"/>
          </a:xfrm>
          <a:prstGeom prst="rect">
            <a:avLst/>
          </a:prstGeom>
          <a:noFill/>
          <a:ln>
            <a:noFill/>
          </a:ln>
        </p:spPr>
        <p:txBody>
          <a:bodyPr spcFirstLastPara="1" wrap="square" lIns="68569" tIns="34275" rIns="68569" bIns="34275" anchor="ctr" anchorCtr="0">
            <a:noAutofit/>
          </a:bodyPr>
          <a:lstStyle/>
          <a:p>
            <a:pPr>
              <a:buSzPts val="4400"/>
            </a:pPr>
            <a:r>
              <a:rPr lang="en-US" sz="2800" dirty="0"/>
              <a:t>Evaluation Plan</a:t>
            </a:r>
            <a:endParaRPr sz="2800" dirty="0"/>
          </a:p>
        </p:txBody>
      </p:sp>
      <p:graphicFrame>
        <p:nvGraphicFramePr>
          <p:cNvPr id="483" name="Google Shape;483;p7"/>
          <p:cNvGraphicFramePr/>
          <p:nvPr>
            <p:extLst>
              <p:ext uri="{D42A27DB-BD31-4B8C-83A1-F6EECF244321}">
                <p14:modId xmlns:p14="http://schemas.microsoft.com/office/powerpoint/2010/main" val="2613147398"/>
              </p:ext>
            </p:extLst>
          </p:nvPr>
        </p:nvGraphicFramePr>
        <p:xfrm>
          <a:off x="1447800" y="1504951"/>
          <a:ext cx="5887181" cy="2203238"/>
        </p:xfrm>
        <a:graphic>
          <a:graphicData uri="http://schemas.openxmlformats.org/drawingml/2006/table">
            <a:tbl>
              <a:tblPr firstRow="1" bandRow="1">
                <a:noFill/>
              </a:tblPr>
              <a:tblGrid>
                <a:gridCol w="3086831">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76471">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Name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Type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Weight</a:t>
                      </a:r>
                      <a:endParaRPr sz="1500" b="1"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0"/>
                  </a:ext>
                </a:extLst>
              </a:tr>
              <a:tr h="326173">
                <a:tc>
                  <a:txBody>
                    <a:bodyPr/>
                    <a:lstStyle/>
                    <a:p>
                      <a:pPr marL="0" marR="0" lvl="0" indent="0" algn="l" rtl="0">
                        <a:spcBef>
                          <a:spcPts val="0"/>
                        </a:spcBef>
                        <a:spcAft>
                          <a:spcPts val="0"/>
                        </a:spcAft>
                        <a:buNone/>
                      </a:pPr>
                      <a:r>
                        <a:rPr lang="en-US" sz="1500" b="0" u="none" strike="noStrike" cap="none" baseline="0">
                          <a:solidFill>
                            <a:srgbClr val="00000A"/>
                          </a:solidFill>
                          <a:latin typeface="Arial"/>
                          <a:ea typeface="Arial"/>
                          <a:cs typeface="Arial"/>
                          <a:sym typeface="Arial"/>
                        </a:rPr>
                        <a:t>2 </a:t>
                      </a:r>
                      <a:r>
                        <a:rPr lang="en-US" sz="1500" b="0" u="none" strike="noStrike" cap="none" baseline="0" dirty="0">
                          <a:solidFill>
                            <a:srgbClr val="00000A"/>
                          </a:solidFill>
                          <a:latin typeface="Arial"/>
                          <a:ea typeface="Arial"/>
                          <a:cs typeface="Arial"/>
                          <a:sym typeface="Arial"/>
                        </a:rPr>
                        <a:t>Quiz, total of 2 scores</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a:solidFill>
                            <a:srgbClr val="00000A"/>
                          </a:solidFill>
                          <a:latin typeface="Arial"/>
                          <a:ea typeface="Arial"/>
                          <a:cs typeface="Arial"/>
                          <a:sym typeface="Arial"/>
                        </a:rPr>
                        <a:t>Online</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a:solidFill>
                            <a:srgbClr val="00000A"/>
                          </a:solidFill>
                          <a:latin typeface="Arial"/>
                          <a:ea typeface="Arial"/>
                          <a:cs typeface="Arial"/>
                          <a:sym typeface="Arial"/>
                        </a:rPr>
                        <a:t>10%</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1"/>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2"/>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3"/>
                  </a:ext>
                </a:extLst>
              </a:tr>
              <a:tr h="339742">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Mid-Semester Test</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Closed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30%</a:t>
                      </a:r>
                      <a:endParaRPr sz="1500" b="0" u="none" strike="noStrike" cap="none">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4"/>
                  </a:ext>
                </a:extLst>
              </a:tr>
              <a:tr h="465759">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Comprehensive Exam</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Open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30</a:t>
                      </a:r>
                      <a:r>
                        <a:rPr lang="en-US" sz="1500" b="0" u="none" strike="noStrike" cap="none" dirty="0">
                          <a:solidFill>
                            <a:srgbClr val="00000A"/>
                          </a:solidFill>
                          <a:latin typeface="Arial"/>
                          <a:ea typeface="Arial"/>
                          <a:cs typeface="Arial"/>
                          <a:sym typeface="Arial"/>
                        </a:rPr>
                        <a:t>%</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5"/>
                  </a:ext>
                </a:extLst>
              </a:tr>
            </a:tbl>
          </a:graphicData>
        </a:graphic>
      </p:graphicFrame>
      <p:sp>
        <p:nvSpPr>
          <p:cNvPr id="484" name="Google Shape;484;p7"/>
          <p:cNvSpPr txBox="1"/>
          <p:nvPr/>
        </p:nvSpPr>
        <p:spPr>
          <a:xfrm>
            <a:off x="1371600" y="4400550"/>
            <a:ext cx="6344387" cy="253885"/>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1200" b="1" kern="0" dirty="0">
                <a:solidFill>
                  <a:srgbClr val="FF0000"/>
                </a:solidFill>
                <a:latin typeface="Tahoma"/>
                <a:ea typeface="Tahoma"/>
                <a:cs typeface="Tahoma"/>
                <a:sym typeface="Tahoma"/>
              </a:rPr>
              <a:t>Please note there will be no change in submission dates for quiz and assignment</a:t>
            </a:r>
            <a:endParaRPr sz="1200" b="1" kern="0" dirty="0">
              <a:solidFill>
                <a:srgbClr val="FF0000"/>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spc="105" dirty="0"/>
              <a:t>Pedagogy</a:t>
            </a:r>
            <a:endParaRPr spc="34" dirty="0"/>
          </a:p>
        </p:txBody>
      </p:sp>
      <p:sp>
        <p:nvSpPr>
          <p:cNvPr id="3" name="object 3"/>
          <p:cNvSpPr txBox="1"/>
          <p:nvPr/>
        </p:nvSpPr>
        <p:spPr>
          <a:xfrm>
            <a:off x="457200" y="1352550"/>
            <a:ext cx="4933474" cy="3237489"/>
          </a:xfrm>
          <a:prstGeom prst="rect">
            <a:avLst/>
          </a:prstGeom>
        </p:spPr>
        <p:txBody>
          <a:bodyPr vert="horz" wrap="square" lIns="0" tIns="10478" rIns="0" bIns="0" rtlCol="0">
            <a:spAutoFit/>
          </a:bodyPr>
          <a:lstStyle/>
          <a:p>
            <a:pPr marL="180975" marR="3810" indent="-171450">
              <a:lnSpc>
                <a:spcPct val="99600"/>
              </a:lnSpc>
              <a:spcBef>
                <a:spcPts val="83"/>
              </a:spcBef>
              <a:buFont typeface="Arial"/>
              <a:buChar char="•"/>
              <a:tabLst>
                <a:tab pos="180975" algn="l"/>
              </a:tabLst>
            </a:pPr>
            <a:r>
              <a:rPr lang="en-US" sz="2100" spc="94" dirty="0">
                <a:latin typeface="Calibri"/>
                <a:cs typeface="Calibri"/>
              </a:rPr>
              <a:t>Slides will be used to teach during the regular lectures</a:t>
            </a:r>
          </a:p>
          <a:p>
            <a:pPr marL="180975" marR="3810" indent="-171450">
              <a:lnSpc>
                <a:spcPct val="99600"/>
              </a:lnSpc>
              <a:spcBef>
                <a:spcPts val="83"/>
              </a:spcBef>
              <a:buFont typeface="Arial"/>
              <a:buChar char="•"/>
              <a:tabLst>
                <a:tab pos="180975" algn="l"/>
              </a:tabLst>
            </a:pPr>
            <a:r>
              <a:rPr lang="en-US" sz="2100" spc="94" dirty="0">
                <a:latin typeface="Calibri"/>
                <a:cs typeface="Calibri"/>
              </a:rPr>
              <a:t>Lab demo and/or problem solving during the webinars</a:t>
            </a:r>
          </a:p>
          <a:p>
            <a:pPr marL="180975" marR="3810" indent="-171450">
              <a:lnSpc>
                <a:spcPct val="99600"/>
              </a:lnSpc>
              <a:spcBef>
                <a:spcPts val="83"/>
              </a:spcBef>
              <a:buFont typeface="Arial"/>
              <a:buChar char="•"/>
              <a:tabLst>
                <a:tab pos="180975" algn="l"/>
              </a:tabLst>
            </a:pPr>
            <a:r>
              <a:rPr sz="2100" spc="94" dirty="0">
                <a:latin typeface="Calibri"/>
                <a:cs typeface="Calibri"/>
              </a:rPr>
              <a:t>Students</a:t>
            </a:r>
            <a:r>
              <a:rPr sz="2100" spc="127" dirty="0">
                <a:latin typeface="Calibri"/>
                <a:cs typeface="Calibri"/>
              </a:rPr>
              <a:t> </a:t>
            </a:r>
            <a:r>
              <a:rPr sz="2100" spc="38" dirty="0">
                <a:latin typeface="Calibri"/>
                <a:cs typeface="Calibri"/>
              </a:rPr>
              <a:t>are</a:t>
            </a:r>
            <a:r>
              <a:rPr sz="2100" spc="124" dirty="0">
                <a:latin typeface="Calibri"/>
                <a:cs typeface="Calibri"/>
              </a:rPr>
              <a:t> </a:t>
            </a:r>
            <a:r>
              <a:rPr sz="2100" spc="71" dirty="0">
                <a:latin typeface="Calibri"/>
                <a:cs typeface="Calibri"/>
              </a:rPr>
              <a:t>responsible</a:t>
            </a:r>
            <a:r>
              <a:rPr sz="2100" spc="124" dirty="0">
                <a:latin typeface="Calibri"/>
                <a:cs typeface="Calibri"/>
              </a:rPr>
              <a:t> </a:t>
            </a:r>
            <a:r>
              <a:rPr sz="2100" dirty="0">
                <a:latin typeface="Calibri"/>
                <a:cs typeface="Calibri"/>
              </a:rPr>
              <a:t>for</a:t>
            </a:r>
            <a:r>
              <a:rPr sz="2100" spc="127" dirty="0">
                <a:latin typeface="Calibri"/>
                <a:cs typeface="Calibri"/>
              </a:rPr>
              <a:t> </a:t>
            </a:r>
            <a:r>
              <a:rPr sz="2100" spc="68" dirty="0">
                <a:latin typeface="Calibri"/>
                <a:cs typeface="Calibri"/>
              </a:rPr>
              <a:t>studying </a:t>
            </a:r>
            <a:r>
              <a:rPr sz="2100" spc="49" dirty="0">
                <a:latin typeface="Calibri"/>
                <a:cs typeface="Calibri"/>
              </a:rPr>
              <a:t>and</a:t>
            </a:r>
            <a:r>
              <a:rPr sz="2100" spc="105" dirty="0">
                <a:latin typeface="Calibri"/>
                <a:cs typeface="Calibri"/>
              </a:rPr>
              <a:t> </a:t>
            </a:r>
            <a:r>
              <a:rPr sz="2100" spc="83" dirty="0">
                <a:latin typeface="Calibri"/>
                <a:cs typeface="Calibri"/>
              </a:rPr>
              <a:t>keeping</a:t>
            </a:r>
            <a:r>
              <a:rPr sz="2100" spc="109" dirty="0">
                <a:latin typeface="Calibri"/>
                <a:cs typeface="Calibri"/>
              </a:rPr>
              <a:t> </a:t>
            </a:r>
            <a:r>
              <a:rPr sz="2100" spc="49" dirty="0">
                <a:latin typeface="Calibri"/>
                <a:cs typeface="Calibri"/>
              </a:rPr>
              <a:t>up</a:t>
            </a:r>
            <a:r>
              <a:rPr sz="2100" spc="109" dirty="0">
                <a:latin typeface="Calibri"/>
                <a:cs typeface="Calibri"/>
              </a:rPr>
              <a:t> </a:t>
            </a:r>
            <a:r>
              <a:rPr sz="2100" spc="64" dirty="0">
                <a:latin typeface="Calibri"/>
                <a:cs typeface="Calibri"/>
              </a:rPr>
              <a:t>with</a:t>
            </a:r>
            <a:r>
              <a:rPr sz="2100" spc="109" dirty="0">
                <a:latin typeface="Calibri"/>
                <a:cs typeface="Calibri"/>
              </a:rPr>
              <a:t> </a:t>
            </a:r>
            <a:r>
              <a:rPr sz="2100" spc="53" dirty="0">
                <a:latin typeface="Calibri"/>
                <a:cs typeface="Calibri"/>
              </a:rPr>
              <a:t>the</a:t>
            </a:r>
            <a:r>
              <a:rPr sz="2100" spc="105" dirty="0">
                <a:latin typeface="Calibri"/>
                <a:cs typeface="Calibri"/>
              </a:rPr>
              <a:t> </a:t>
            </a:r>
            <a:r>
              <a:rPr sz="2100" spc="90" dirty="0">
                <a:latin typeface="Calibri"/>
                <a:cs typeface="Calibri"/>
              </a:rPr>
              <a:t>course</a:t>
            </a:r>
            <a:r>
              <a:rPr sz="2100" spc="109" dirty="0">
                <a:latin typeface="Calibri"/>
                <a:cs typeface="Calibri"/>
              </a:rPr>
              <a:t> </a:t>
            </a:r>
            <a:r>
              <a:rPr sz="2100" spc="-8" dirty="0">
                <a:latin typeface="Calibri"/>
                <a:cs typeface="Calibri"/>
              </a:rPr>
              <a:t>material </a:t>
            </a:r>
            <a:r>
              <a:rPr sz="2100" spc="64" dirty="0">
                <a:latin typeface="Calibri"/>
                <a:cs typeface="Calibri"/>
              </a:rPr>
              <a:t>outside</a:t>
            </a:r>
            <a:r>
              <a:rPr sz="2100" spc="109" dirty="0">
                <a:latin typeface="Calibri"/>
                <a:cs typeface="Calibri"/>
              </a:rPr>
              <a:t> </a:t>
            </a:r>
            <a:r>
              <a:rPr sz="2100" spc="53" dirty="0">
                <a:latin typeface="Calibri"/>
                <a:cs typeface="Calibri"/>
              </a:rPr>
              <a:t>of</a:t>
            </a:r>
            <a:r>
              <a:rPr sz="2100" spc="113" dirty="0">
                <a:latin typeface="Calibri"/>
                <a:cs typeface="Calibri"/>
              </a:rPr>
              <a:t> </a:t>
            </a:r>
            <a:r>
              <a:rPr sz="2100" spc="120" dirty="0">
                <a:latin typeface="Calibri"/>
                <a:cs typeface="Calibri"/>
              </a:rPr>
              <a:t>class</a:t>
            </a:r>
            <a:r>
              <a:rPr sz="2100" spc="116" dirty="0">
                <a:latin typeface="Calibri"/>
                <a:cs typeface="Calibri"/>
              </a:rPr>
              <a:t> </a:t>
            </a:r>
            <a:r>
              <a:rPr sz="2100" spc="53" dirty="0">
                <a:latin typeface="Calibri"/>
                <a:cs typeface="Calibri"/>
              </a:rPr>
              <a:t>time.</a:t>
            </a:r>
            <a:endParaRPr sz="2100" dirty="0">
              <a:latin typeface="Calibri"/>
              <a:cs typeface="Calibri"/>
            </a:endParaRPr>
          </a:p>
          <a:p>
            <a:pPr marL="522446" marR="1261586" lvl="1" indent="-170497">
              <a:lnSpc>
                <a:spcPct val="100800"/>
              </a:lnSpc>
              <a:spcBef>
                <a:spcPts val="394"/>
              </a:spcBef>
              <a:buChar char="–"/>
              <a:tabLst>
                <a:tab pos="523399" algn="l"/>
              </a:tabLst>
            </a:pPr>
            <a:r>
              <a:rPr spc="83" dirty="0">
                <a:latin typeface="Calibri"/>
                <a:cs typeface="Calibri"/>
              </a:rPr>
              <a:t>Reading</a:t>
            </a:r>
            <a:r>
              <a:rPr spc="105" dirty="0">
                <a:latin typeface="Calibri"/>
                <a:cs typeface="Calibri"/>
              </a:rPr>
              <a:t> </a:t>
            </a:r>
            <a:r>
              <a:rPr spc="34" dirty="0">
                <a:latin typeface="Calibri"/>
                <a:cs typeface="Calibri"/>
              </a:rPr>
              <a:t>certain</a:t>
            </a:r>
            <a:r>
              <a:rPr spc="109" dirty="0">
                <a:latin typeface="Calibri"/>
                <a:cs typeface="Calibri"/>
              </a:rPr>
              <a:t> </a:t>
            </a:r>
            <a:r>
              <a:rPr spc="53" dirty="0">
                <a:latin typeface="Calibri"/>
                <a:cs typeface="Calibri"/>
              </a:rPr>
              <a:t>book</a:t>
            </a:r>
            <a:r>
              <a:rPr spc="105" dirty="0">
                <a:latin typeface="Calibri"/>
                <a:cs typeface="Calibri"/>
              </a:rPr>
              <a:t> </a:t>
            </a:r>
            <a:r>
              <a:rPr spc="56" dirty="0">
                <a:latin typeface="Calibri"/>
                <a:cs typeface="Calibri"/>
              </a:rPr>
              <a:t>chapters, 	</a:t>
            </a:r>
            <a:r>
              <a:rPr spc="64" dirty="0">
                <a:latin typeface="Calibri"/>
                <a:cs typeface="Calibri"/>
              </a:rPr>
              <a:t>papers</a:t>
            </a:r>
            <a:r>
              <a:rPr spc="98" dirty="0">
                <a:latin typeface="Calibri"/>
                <a:cs typeface="Calibri"/>
              </a:rPr>
              <a:t> </a:t>
            </a:r>
            <a:r>
              <a:rPr dirty="0">
                <a:latin typeface="Calibri"/>
                <a:cs typeface="Calibri"/>
              </a:rPr>
              <a:t>or</a:t>
            </a:r>
            <a:r>
              <a:rPr spc="101" dirty="0">
                <a:latin typeface="Calibri"/>
                <a:cs typeface="Calibri"/>
              </a:rPr>
              <a:t> </a:t>
            </a:r>
            <a:r>
              <a:rPr spc="79" dirty="0">
                <a:latin typeface="Calibri"/>
                <a:cs typeface="Calibri"/>
              </a:rPr>
              <a:t>blogs,</a:t>
            </a:r>
            <a:r>
              <a:rPr spc="101" dirty="0">
                <a:latin typeface="Calibri"/>
                <a:cs typeface="Calibri"/>
              </a:rPr>
              <a:t> </a:t>
            </a:r>
            <a:r>
              <a:rPr spc="-19" dirty="0">
                <a:latin typeface="Calibri"/>
                <a:cs typeface="Calibri"/>
              </a:rPr>
              <a:t>or</a:t>
            </a:r>
            <a:endParaRPr dirty="0">
              <a:latin typeface="Calibri"/>
              <a:cs typeface="Calibri"/>
            </a:endParaRPr>
          </a:p>
          <a:p>
            <a:pPr marL="522446" lvl="1" indent="-170497">
              <a:spcBef>
                <a:spcPts val="394"/>
              </a:spcBef>
              <a:buChar char="–"/>
              <a:tabLst>
                <a:tab pos="522446" algn="l"/>
              </a:tabLst>
            </a:pPr>
            <a:r>
              <a:rPr spc="71" dirty="0">
                <a:latin typeface="Calibri"/>
                <a:cs typeface="Calibri"/>
              </a:rPr>
              <a:t>Watching</a:t>
            </a:r>
            <a:r>
              <a:rPr spc="101" dirty="0">
                <a:latin typeface="Calibri"/>
                <a:cs typeface="Calibri"/>
              </a:rPr>
              <a:t> </a:t>
            </a:r>
            <a:r>
              <a:rPr spc="124" dirty="0">
                <a:latin typeface="Calibri"/>
                <a:cs typeface="Calibri"/>
              </a:rPr>
              <a:t>some</a:t>
            </a:r>
            <a:r>
              <a:rPr spc="105" dirty="0">
                <a:latin typeface="Calibri"/>
                <a:cs typeface="Calibri"/>
              </a:rPr>
              <a:t> </a:t>
            </a:r>
            <a:r>
              <a:rPr spc="49" dirty="0">
                <a:latin typeface="Calibri"/>
                <a:cs typeface="Calibri"/>
              </a:rPr>
              <a:t>video</a:t>
            </a:r>
            <a:r>
              <a:rPr spc="105" dirty="0">
                <a:latin typeface="Calibri"/>
                <a:cs typeface="Calibri"/>
              </a:rPr>
              <a:t> </a:t>
            </a:r>
            <a:r>
              <a:rPr spc="56" dirty="0">
                <a:latin typeface="Calibri"/>
                <a:cs typeface="Calibri"/>
              </a:rPr>
              <a:t>lectures.</a:t>
            </a:r>
            <a:endParaRPr dirty="0">
              <a:latin typeface="Calibri"/>
              <a:cs typeface="Calibri"/>
            </a:endParaRPr>
          </a:p>
        </p:txBody>
      </p:sp>
      <p:pic>
        <p:nvPicPr>
          <p:cNvPr id="4" name="object 4"/>
          <p:cNvPicPr/>
          <p:nvPr/>
        </p:nvPicPr>
        <p:blipFill>
          <a:blip r:embed="rId2" cstate="print"/>
          <a:stretch>
            <a:fillRect/>
          </a:stretch>
        </p:blipFill>
        <p:spPr>
          <a:xfrm>
            <a:off x="5702798" y="1"/>
            <a:ext cx="3441201" cy="51434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
          <p:cNvSpPr txBox="1">
            <a:spLocks noGrp="1"/>
          </p:cNvSpPr>
          <p:nvPr>
            <p:ph type="title"/>
          </p:nvPr>
        </p:nvSpPr>
        <p:spPr>
          <a:xfrm>
            <a:off x="1143000" y="285750"/>
            <a:ext cx="4590510" cy="637580"/>
          </a:xfrm>
          <a:prstGeom prst="rect">
            <a:avLst/>
          </a:prstGeom>
          <a:noFill/>
          <a:ln>
            <a:noFill/>
          </a:ln>
        </p:spPr>
        <p:txBody>
          <a:bodyPr spcFirstLastPara="1" wrap="square" lIns="68569" tIns="34275" rIns="68569" bIns="34275" anchor="ctr" anchorCtr="0">
            <a:noAutofit/>
          </a:bodyPr>
          <a:lstStyle/>
          <a:p>
            <a:pPr>
              <a:buSzPts val="3600"/>
            </a:pPr>
            <a:r>
              <a:rPr lang="en-US" sz="2800" dirty="0">
                <a:latin typeface="Calibri" panose="020F0502020204030204" pitchFamily="34" charset="0"/>
                <a:ea typeface="Arial"/>
                <a:cs typeface="Calibri" panose="020F0502020204030204" pitchFamily="34" charset="0"/>
                <a:sym typeface="Arial"/>
              </a:rPr>
              <a:t>Lab Plan </a:t>
            </a:r>
            <a:endParaRPr sz="2800" dirty="0">
              <a:latin typeface="Calibri" panose="020F0502020204030204" pitchFamily="34" charset="0"/>
              <a:ea typeface="Arial"/>
              <a:cs typeface="Calibri" panose="020F0502020204030204" pitchFamily="34" charset="0"/>
              <a:sym typeface="Arial"/>
            </a:endParaRPr>
          </a:p>
        </p:txBody>
      </p:sp>
      <p:graphicFrame>
        <p:nvGraphicFramePr>
          <p:cNvPr id="490" name="Google Shape;490;p8"/>
          <p:cNvGraphicFramePr/>
          <p:nvPr>
            <p:extLst>
              <p:ext uri="{D42A27DB-BD31-4B8C-83A1-F6EECF244321}">
                <p14:modId xmlns:p14="http://schemas.microsoft.com/office/powerpoint/2010/main" val="1310753721"/>
              </p:ext>
            </p:extLst>
          </p:nvPr>
        </p:nvGraphicFramePr>
        <p:xfrm>
          <a:off x="1143000" y="1352550"/>
          <a:ext cx="6709674" cy="2335837"/>
        </p:xfrm>
        <a:graphic>
          <a:graphicData uri="http://schemas.openxmlformats.org/drawingml/2006/table">
            <a:tbl>
              <a:tblPr bandRow="1">
                <a:noFill/>
              </a:tblPr>
              <a:tblGrid>
                <a:gridCol w="918474">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514350">
                <a:tc>
                  <a:txBody>
                    <a:bodyPr/>
                    <a:lstStyle/>
                    <a:p>
                      <a:pPr marL="0" marR="0" lvl="0" indent="0" algn="l" rtl="0">
                        <a:lnSpc>
                          <a:spcPct val="115000"/>
                        </a:lnSpc>
                        <a:spcBef>
                          <a:spcPts val="0"/>
                        </a:spcBef>
                        <a:spcAft>
                          <a:spcPts val="0"/>
                        </a:spcAft>
                        <a:buNone/>
                      </a:pPr>
                      <a:r>
                        <a:rPr lang="en-US" sz="1800" u="none" strike="noStrike" cap="none" dirty="0"/>
                        <a:t>Lab No.</a:t>
                      </a:r>
                      <a:endParaRPr sz="1800" u="none" strike="noStrike" cap="none" dirty="0">
                        <a:solidFill>
                          <a:srgbClr val="000000"/>
                        </a:solidFill>
                        <a:latin typeface="Calibri"/>
                        <a:ea typeface="Calibri"/>
                        <a:cs typeface="Calibri"/>
                        <a:sym typeface="Calibri"/>
                      </a:endParaRPr>
                    </a:p>
                  </a:txBody>
                  <a:tcPr marL="51431" marR="51431" marT="0" marB="0"/>
                </a:tc>
                <a:tc>
                  <a:txBody>
                    <a:bodyPr/>
                    <a:lstStyle/>
                    <a:p>
                      <a:pPr marL="0" marR="0" lvl="0" indent="0" algn="l" rtl="0">
                        <a:lnSpc>
                          <a:spcPct val="115000"/>
                        </a:lnSpc>
                        <a:spcBef>
                          <a:spcPts val="0"/>
                        </a:spcBef>
                        <a:spcAft>
                          <a:spcPts val="0"/>
                        </a:spcAft>
                        <a:buNone/>
                      </a:pPr>
                      <a:r>
                        <a:rPr lang="en-US" sz="1800" u="none" strike="noStrike" cap="none"/>
                        <a:t>Lab Objective</a:t>
                      </a:r>
                      <a:endParaRPr sz="1800" u="none" strike="noStrike" cap="none">
                        <a:solidFill>
                          <a:srgbClr val="000000"/>
                        </a:solidFill>
                        <a:latin typeface="Calibri"/>
                        <a:ea typeface="Calibri"/>
                        <a:cs typeface="Calibri"/>
                        <a:sym typeface="Calibri"/>
                      </a:endParaRPr>
                    </a:p>
                  </a:txBody>
                  <a:tcPr marL="51431" marR="51431" marT="0" marB="0"/>
                </a:tc>
                <a:extLst>
                  <a:ext uri="{0D108BD9-81ED-4DB2-BD59-A6C34878D82A}">
                    <a16:rowId xmlns:a16="http://schemas.microsoft.com/office/drawing/2014/main" val="10000"/>
                  </a:ext>
                </a:extLst>
              </a:tr>
              <a:tr h="379280">
                <a:tc>
                  <a:txBody>
                    <a:bodyPr/>
                    <a:lstStyle/>
                    <a:p>
                      <a:pPr marL="0" marR="0" lvl="0" indent="0" algn="l" rtl="0">
                        <a:lnSpc>
                          <a:spcPct val="115000"/>
                        </a:lnSpc>
                        <a:spcBef>
                          <a:spcPts val="0"/>
                        </a:spcBef>
                        <a:spcAft>
                          <a:spcPts val="0"/>
                        </a:spcAft>
                        <a:buNone/>
                      </a:pPr>
                      <a:r>
                        <a:rPr lang="en-US" sz="1600" u="none" strike="noStrike" cap="none" dirty="0">
                          <a:latin typeface="Calibri" panose="020F0502020204030204" pitchFamily="34" charset="0"/>
                          <a:cs typeface="Calibri" panose="020F0502020204030204" pitchFamily="34" charset="0"/>
                        </a:rPr>
                        <a:t>1</a:t>
                      </a:r>
                      <a:endParaRPr sz="1600" u="none" strike="noStrike" cap="none" dirty="0">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a:solidFill>
                            <a:srgbClr val="00000A"/>
                          </a:solidFill>
                          <a:effectLst/>
                          <a:latin typeface="Calibri" panose="020F0502020204030204" pitchFamily="34" charset="0"/>
                          <a:ea typeface="Calibri" panose="020F0502020204030204" pitchFamily="34" charset="0"/>
                        </a:rPr>
                        <a:t>Foundations of Parallel and Distributed Computing</a:t>
                      </a:r>
                    </a:p>
                  </a:txBody>
                  <a:tcPr marL="68580" marR="68580" marT="0" marB="0"/>
                </a:tc>
                <a:extLst>
                  <a:ext uri="{0D108BD9-81ED-4DB2-BD59-A6C34878D82A}">
                    <a16:rowId xmlns:a16="http://schemas.microsoft.com/office/drawing/2014/main" val="10001"/>
                  </a:ext>
                </a:extLst>
              </a:tr>
              <a:tr h="272600">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2</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a:solidFill>
                            <a:srgbClr val="00000A"/>
                          </a:solidFill>
                          <a:effectLst/>
                          <a:latin typeface="Calibri" panose="020F0502020204030204" pitchFamily="34" charset="0"/>
                          <a:ea typeface="Calibri" panose="020F0502020204030204" pitchFamily="34" charset="0"/>
                        </a:rPr>
                        <a:t>Data Parallelism vs. Model Parallelism</a:t>
                      </a:r>
                    </a:p>
                  </a:txBody>
                  <a:tcPr marL="68580" marR="68580" marT="0" marB="0"/>
                </a:tc>
                <a:extLst>
                  <a:ext uri="{0D108BD9-81ED-4DB2-BD59-A6C34878D82A}">
                    <a16:rowId xmlns:a16="http://schemas.microsoft.com/office/drawing/2014/main" val="10002"/>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3</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a:solidFill>
                            <a:srgbClr val="00000A"/>
                          </a:solidFill>
                          <a:effectLst/>
                          <a:latin typeface="Calibri" panose="020F0502020204030204" pitchFamily="34" charset="0"/>
                          <a:ea typeface="Calibri" panose="020F0502020204030204" pitchFamily="34" charset="0"/>
                        </a:rPr>
                        <a:t>Algorithm Scaling Examples </a:t>
                      </a:r>
                    </a:p>
                  </a:txBody>
                  <a:tcPr marL="68580" marR="68580" marT="0" marB="0"/>
                </a:tc>
                <a:extLst>
                  <a:ext uri="{0D108BD9-81ED-4DB2-BD59-A6C34878D82A}">
                    <a16:rowId xmlns:a16="http://schemas.microsoft.com/office/drawing/2014/main" val="10003"/>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4</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a:solidFill>
                            <a:srgbClr val="00000A"/>
                          </a:solidFill>
                          <a:effectLst/>
                          <a:latin typeface="Calibri" panose="020F0502020204030204" pitchFamily="34" charset="0"/>
                          <a:ea typeface="Calibri" panose="020F0502020204030204" pitchFamily="34" charset="0"/>
                        </a:rPr>
                        <a:t>Distributed Deep Learning Algorithms </a:t>
                      </a:r>
                    </a:p>
                  </a:txBody>
                  <a:tcPr marL="68580" marR="68580" marT="0" marB="0"/>
                </a:tc>
                <a:extLst>
                  <a:ext uri="{0D108BD9-81ED-4DB2-BD59-A6C34878D82A}">
                    <a16:rowId xmlns:a16="http://schemas.microsoft.com/office/drawing/2014/main" val="10004"/>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5</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a:solidFill>
                            <a:srgbClr val="00000A"/>
                          </a:solidFill>
                          <a:effectLst/>
                          <a:latin typeface="Calibri" panose="020F0502020204030204" pitchFamily="34" charset="0"/>
                          <a:ea typeface="Calibri" panose="020F0502020204030204" pitchFamily="34" charset="0"/>
                        </a:rPr>
                        <a:t>Federated Learning</a:t>
                      </a:r>
                    </a:p>
                  </a:txBody>
                  <a:tcPr marL="68580" marR="68580" marT="0" marB="0"/>
                </a:tc>
                <a:extLst>
                  <a:ext uri="{0D108BD9-81ED-4DB2-BD59-A6C34878D82A}">
                    <a16:rowId xmlns:a16="http://schemas.microsoft.com/office/drawing/2014/main" val="10005"/>
                  </a:ext>
                </a:extLst>
              </a:tr>
            </a:tbl>
          </a:graphicData>
        </a:graphic>
      </p:graphicFrame>
      <p:sp>
        <p:nvSpPr>
          <p:cNvPr id="491" name="Google Shape;491;p8"/>
          <p:cNvSpPr txBox="1"/>
          <p:nvPr/>
        </p:nvSpPr>
        <p:spPr>
          <a:xfrm>
            <a:off x="5181600" y="4171950"/>
            <a:ext cx="3352800" cy="623217"/>
          </a:xfrm>
          <a:prstGeom prst="rect">
            <a:avLst/>
          </a:prstGeom>
          <a:noFill/>
          <a:ln>
            <a:noFill/>
          </a:ln>
        </p:spPr>
        <p:txBody>
          <a:bodyPr spcFirstLastPara="1" wrap="square" lIns="68569" tIns="34275" rIns="68569" bIns="34275" anchor="t" anchorCtr="0">
            <a:spAutoFit/>
          </a:bodyPr>
          <a:lstStyle/>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not graded</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Webinars may be conducted for lab sessions</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will be conducted in Python</a:t>
            </a:r>
            <a:endParaRPr sz="1200" i="1" kern="0" dirty="0">
              <a:solidFill>
                <a:srgbClr val="0070C0"/>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047" y="2036445"/>
            <a:ext cx="3700463" cy="702115"/>
          </a:xfrm>
          <a:prstGeom prst="rect">
            <a:avLst/>
          </a:prstGeom>
        </p:spPr>
        <p:txBody>
          <a:bodyPr vert="horz" wrap="square" lIns="0" tIns="9525" rIns="0" bIns="0" rtlCol="0">
            <a:spAutoFit/>
          </a:bodyPr>
          <a:lstStyle/>
          <a:p>
            <a:pPr marL="9525">
              <a:spcBef>
                <a:spcPts val="75"/>
              </a:spcBef>
            </a:pPr>
            <a:r>
              <a:rPr sz="4500" dirty="0">
                <a:solidFill>
                  <a:srgbClr val="000000"/>
                </a:solidFill>
              </a:rPr>
              <a:t>Course</a:t>
            </a:r>
            <a:r>
              <a:rPr sz="4500" spc="-19" dirty="0">
                <a:solidFill>
                  <a:srgbClr val="000000"/>
                </a:solidFill>
              </a:rPr>
              <a:t> </a:t>
            </a:r>
            <a:r>
              <a:rPr sz="4500" spc="-8" dirty="0">
                <a:solidFill>
                  <a:srgbClr val="000000"/>
                </a:solidFill>
              </a:rPr>
              <a:t>Topics</a:t>
            </a:r>
            <a:endParaRPr sz="4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114550"/>
            <a:ext cx="5944553" cy="1394613"/>
          </a:xfrm>
          <a:prstGeom prst="rect">
            <a:avLst/>
          </a:prstGeom>
        </p:spPr>
        <p:txBody>
          <a:bodyPr vert="horz" wrap="square" lIns="0" tIns="9525" rIns="0" bIns="0" rtlCol="0">
            <a:spAutoFit/>
          </a:bodyPr>
          <a:lstStyle/>
          <a:p>
            <a:pPr marL="9525">
              <a:spcBef>
                <a:spcPts val="75"/>
              </a:spcBef>
            </a:pPr>
            <a:r>
              <a:rPr lang="en-US" sz="1800">
                <a:solidFill>
                  <a:srgbClr val="000000"/>
                </a:solidFill>
              </a:rPr>
              <a:t>1. Foundations of Parallel and Distributed Computing</a:t>
            </a:r>
            <a:br>
              <a:rPr lang="en-US" sz="1800">
                <a:solidFill>
                  <a:srgbClr val="000000"/>
                </a:solidFill>
              </a:rPr>
            </a:br>
            <a:r>
              <a:rPr lang="en-US" sz="1800">
                <a:solidFill>
                  <a:srgbClr val="000000"/>
                </a:solidFill>
              </a:rPr>
              <a:t>2. Data Parallelism vs. Model Parallelism</a:t>
            </a:r>
            <a:br>
              <a:rPr lang="en-US" sz="1800">
                <a:solidFill>
                  <a:srgbClr val="000000"/>
                </a:solidFill>
              </a:rPr>
            </a:br>
            <a:r>
              <a:rPr lang="en-US" sz="1800">
                <a:solidFill>
                  <a:srgbClr val="000000"/>
                </a:solidFill>
              </a:rPr>
              <a:t>3. Algorithm Scaling Examples </a:t>
            </a:r>
            <a:br>
              <a:rPr lang="en-US" sz="1800">
                <a:solidFill>
                  <a:srgbClr val="000000"/>
                </a:solidFill>
              </a:rPr>
            </a:br>
            <a:r>
              <a:rPr lang="en-US" sz="1800">
                <a:solidFill>
                  <a:srgbClr val="000000"/>
                </a:solidFill>
              </a:rPr>
              <a:t>4. Distributed Deep Learning Algorithms </a:t>
            </a:r>
            <a:br>
              <a:rPr lang="en-US" sz="1800">
                <a:solidFill>
                  <a:srgbClr val="000000"/>
                </a:solidFill>
              </a:rPr>
            </a:br>
            <a:r>
              <a:rPr lang="en-US" sz="1800">
                <a:solidFill>
                  <a:srgbClr val="000000"/>
                </a:solidFill>
              </a:rPr>
              <a:t>5. Federated Learning</a:t>
            </a:r>
            <a:endParaRPr sz="1800"/>
          </a:p>
        </p:txBody>
      </p:sp>
      <p:sp>
        <p:nvSpPr>
          <p:cNvPr id="3" name="object 2"/>
          <p:cNvSpPr txBox="1">
            <a:spLocks/>
          </p:cNvSpPr>
          <p:nvPr/>
        </p:nvSpPr>
        <p:spPr>
          <a:xfrm>
            <a:off x="2514600" y="1200150"/>
            <a:ext cx="3700463" cy="702115"/>
          </a:xfrm>
          <a:prstGeom prst="rect">
            <a:avLst/>
          </a:prstGeom>
        </p:spPr>
        <p:txBody>
          <a:bodyPr vert="horz" wrap="square" lIns="0" tIns="9525"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00" b="0" i="0" u="none" strike="noStrike" cap="none">
                <a:solidFill>
                  <a:srgbClr val="0B010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9525">
              <a:spcBef>
                <a:spcPts val="75"/>
              </a:spcBef>
            </a:pPr>
            <a:r>
              <a:rPr lang="en-IN" sz="4500" kern="0">
                <a:solidFill>
                  <a:srgbClr val="000000"/>
                </a:solidFill>
              </a:rPr>
              <a:t>Course</a:t>
            </a:r>
            <a:r>
              <a:rPr lang="en-IN" sz="4500" kern="0" spc="-19">
                <a:solidFill>
                  <a:srgbClr val="000000"/>
                </a:solidFill>
              </a:rPr>
              <a:t> </a:t>
            </a:r>
            <a:r>
              <a:rPr lang="en-IN" sz="4500" kern="0" spc="-8">
                <a:solidFill>
                  <a:srgbClr val="000000"/>
                </a:solidFill>
              </a:rPr>
              <a:t>Topics</a:t>
            </a:r>
            <a:endParaRPr lang="en-IN" sz="4500" kern="0"/>
          </a:p>
        </p:txBody>
      </p:sp>
    </p:spTree>
    <p:extLst>
      <p:ext uri="{BB962C8B-B14F-4D97-AF65-F5344CB8AC3E}">
        <p14:creationId xmlns:p14="http://schemas.microsoft.com/office/powerpoint/2010/main" val="3035339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6110251" cy="517449"/>
          </a:xfrm>
          <a:prstGeom prst="rect">
            <a:avLst/>
          </a:prstGeom>
        </p:spPr>
        <p:txBody>
          <a:bodyPr vert="horz" wrap="square" lIns="0" tIns="9525" rIns="0" bIns="0" rtlCol="0">
            <a:spAutoFit/>
          </a:bodyPr>
          <a:lstStyle/>
          <a:p>
            <a:pPr marL="247174">
              <a:spcBef>
                <a:spcPts val="75"/>
              </a:spcBef>
            </a:pPr>
            <a:r>
              <a:rPr lang="en-US" spc="71"/>
              <a:t>Distributed Machine Learning </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13</a:t>
            </a:fld>
            <a:endParaRPr spc="-19" dirty="0"/>
          </a:p>
        </p:txBody>
      </p:sp>
      <p:sp>
        <p:nvSpPr>
          <p:cNvPr id="6" name="Rectangle 5"/>
          <p:cNvSpPr/>
          <p:nvPr/>
        </p:nvSpPr>
        <p:spPr>
          <a:xfrm>
            <a:off x="0" y="1123950"/>
            <a:ext cx="9005848" cy="3139321"/>
          </a:xfrm>
          <a:prstGeom prst="rect">
            <a:avLst/>
          </a:prstGeom>
        </p:spPr>
        <p:txBody>
          <a:bodyPr wrap="square">
            <a:spAutoFit/>
          </a:bodyPr>
          <a:lstStyle/>
          <a:p>
            <a:pPr marL="285750" indent="-285750">
              <a:buFont typeface="Arial" panose="020B0604020202020204" pitchFamily="34" charset="0"/>
              <a:buChar char="•"/>
            </a:pPr>
            <a:r>
              <a:rPr lang="en-IN"/>
              <a:t>Distributed machine learning is an advanced approach to machine learning (ML) that involves spreading computational tasks across multiple processing units, typically across a network of computers. </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This method is particularly useful for handling large datasets, complex model architectures, and intensive computation tasks that are too challenging for a single computer to process efficiently. </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Here’s a detailed explanation of distributed machine learning, touching on key aspects such as its need, architecture, techniques, applications, and inherent challenges.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14</a:t>
            </a:fld>
            <a:endParaRPr spc="-19" dirty="0"/>
          </a:p>
        </p:txBody>
      </p:sp>
      <p:sp>
        <p:nvSpPr>
          <p:cNvPr id="3" name="Rectangle 2"/>
          <p:cNvSpPr/>
          <p:nvPr/>
        </p:nvSpPr>
        <p:spPr>
          <a:xfrm>
            <a:off x="-12358" y="971550"/>
            <a:ext cx="9156357" cy="3693319"/>
          </a:xfrm>
          <a:prstGeom prst="rect">
            <a:avLst/>
          </a:prstGeom>
        </p:spPr>
        <p:txBody>
          <a:bodyPr wrap="square">
            <a:spAutoFit/>
          </a:bodyPr>
          <a:lstStyle/>
          <a:p>
            <a:r>
              <a:rPr lang="en-US"/>
              <a:t>1. The need for distributed machine learning arises from several modern-day requirements:</a:t>
            </a:r>
          </a:p>
          <a:p>
            <a:endParaRPr lang="en-US"/>
          </a:p>
          <a:p>
            <a:r>
              <a:rPr lang="en-US">
                <a:solidFill>
                  <a:srgbClr val="FF0000"/>
                </a:solidFill>
              </a:rPr>
              <a:t>Large Datasets: </a:t>
            </a:r>
            <a:r>
              <a:rPr lang="en-US"/>
              <a:t>With the explosion of data in fields like social media, healthcare, and finance, datasets have grown to a size (often terabytes or petabytes) that cannot be processed effectively on a single machine.</a:t>
            </a:r>
          </a:p>
          <a:p>
            <a:endParaRPr lang="en-US"/>
          </a:p>
          <a:p>
            <a:r>
              <a:rPr lang="en-US">
                <a:solidFill>
                  <a:srgbClr val="FF0000"/>
                </a:solidFill>
              </a:rPr>
              <a:t>Complex Models: </a:t>
            </a:r>
            <a:r>
              <a:rPr lang="en-US"/>
              <a:t>Advanced ML models, especially deep learning networks, have millions of parameters and require substantial computational resources that exceed the capacity of individual machines.</a:t>
            </a:r>
          </a:p>
          <a:p>
            <a:endParaRPr lang="en-US"/>
          </a:p>
          <a:p>
            <a:r>
              <a:rPr lang="en-US">
                <a:solidFill>
                  <a:srgbClr val="FF0000"/>
                </a:solidFill>
              </a:rPr>
              <a:t>Speed and Efficiency: </a:t>
            </a:r>
            <a:r>
              <a:rPr lang="en-US"/>
              <a:t>Distributed systems can significantly reduce the time needed for training and inference by parallelizing tasks and utilizing many machines simultaneously.</a:t>
            </a:r>
            <a:endParaRPr lang="en-IN"/>
          </a:p>
        </p:txBody>
      </p:sp>
    </p:spTree>
    <p:extLst>
      <p:ext uri="{BB962C8B-B14F-4D97-AF65-F5344CB8AC3E}">
        <p14:creationId xmlns:p14="http://schemas.microsoft.com/office/powerpoint/2010/main" val="1905598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15</a:t>
            </a:fld>
            <a:endParaRPr spc="-19" dirty="0"/>
          </a:p>
        </p:txBody>
      </p:sp>
      <p:pic>
        <p:nvPicPr>
          <p:cNvPr id="3" name="Picture 2"/>
          <p:cNvPicPr>
            <a:picLocks noChangeAspect="1"/>
          </p:cNvPicPr>
          <p:nvPr/>
        </p:nvPicPr>
        <p:blipFill>
          <a:blip r:embed="rId2"/>
          <a:stretch>
            <a:fillRect/>
          </a:stretch>
        </p:blipFill>
        <p:spPr>
          <a:xfrm>
            <a:off x="0" y="895350"/>
            <a:ext cx="9144000" cy="4038600"/>
          </a:xfrm>
          <a:prstGeom prst="rect">
            <a:avLst/>
          </a:prstGeom>
        </p:spPr>
      </p:pic>
    </p:spTree>
    <p:extLst>
      <p:ext uri="{BB962C8B-B14F-4D97-AF65-F5344CB8AC3E}">
        <p14:creationId xmlns:p14="http://schemas.microsoft.com/office/powerpoint/2010/main" val="135110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16</a:t>
            </a:fld>
            <a:endParaRPr spc="-19" dirty="0"/>
          </a:p>
        </p:txBody>
      </p:sp>
      <p:pic>
        <p:nvPicPr>
          <p:cNvPr id="3" name="Picture 2"/>
          <p:cNvPicPr>
            <a:picLocks noChangeAspect="1"/>
          </p:cNvPicPr>
          <p:nvPr/>
        </p:nvPicPr>
        <p:blipFill>
          <a:blip r:embed="rId2"/>
          <a:stretch>
            <a:fillRect/>
          </a:stretch>
        </p:blipFill>
        <p:spPr>
          <a:xfrm>
            <a:off x="134030" y="971550"/>
            <a:ext cx="9009970" cy="3962400"/>
          </a:xfrm>
          <a:prstGeom prst="rect">
            <a:avLst/>
          </a:prstGeom>
        </p:spPr>
      </p:pic>
    </p:spTree>
    <p:extLst>
      <p:ext uri="{BB962C8B-B14F-4D97-AF65-F5344CB8AC3E}">
        <p14:creationId xmlns:p14="http://schemas.microsoft.com/office/powerpoint/2010/main" val="672191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17</a:t>
            </a:fld>
            <a:endParaRPr spc="-19" dirty="0"/>
          </a:p>
        </p:txBody>
      </p:sp>
      <p:pic>
        <p:nvPicPr>
          <p:cNvPr id="3" name="Picture 2"/>
          <p:cNvPicPr>
            <a:picLocks noChangeAspect="1"/>
          </p:cNvPicPr>
          <p:nvPr/>
        </p:nvPicPr>
        <p:blipFill>
          <a:blip r:embed="rId2"/>
          <a:stretch>
            <a:fillRect/>
          </a:stretch>
        </p:blipFill>
        <p:spPr>
          <a:xfrm>
            <a:off x="457200" y="1123950"/>
            <a:ext cx="8153400" cy="3476625"/>
          </a:xfrm>
          <a:prstGeom prst="rect">
            <a:avLst/>
          </a:prstGeom>
        </p:spPr>
      </p:pic>
    </p:spTree>
    <p:extLst>
      <p:ext uri="{BB962C8B-B14F-4D97-AF65-F5344CB8AC3E}">
        <p14:creationId xmlns:p14="http://schemas.microsoft.com/office/powerpoint/2010/main" val="167645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r>
              <a:rPr lang="en-US"/>
              <a:t>Large-scale machine learning</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18</a:t>
            </a:fld>
            <a:endParaRPr spc="-19" dirty="0"/>
          </a:p>
        </p:txBody>
      </p:sp>
      <p:sp>
        <p:nvSpPr>
          <p:cNvPr id="3" name="Rectangle 2"/>
          <p:cNvSpPr/>
          <p:nvPr/>
        </p:nvSpPr>
        <p:spPr>
          <a:xfrm>
            <a:off x="20595" y="1123950"/>
            <a:ext cx="8985254" cy="923330"/>
          </a:xfrm>
          <a:prstGeom prst="rect">
            <a:avLst/>
          </a:prstGeom>
        </p:spPr>
        <p:txBody>
          <a:bodyPr wrap="square">
            <a:spAutoFit/>
          </a:bodyPr>
          <a:lstStyle/>
          <a:p>
            <a:r>
              <a:rPr lang="en-US"/>
              <a:t>The scale of machine learning applications has become unprecedentedly large. Users</a:t>
            </a:r>
          </a:p>
          <a:p>
            <a:r>
              <a:rPr lang="en-US"/>
              <a:t>are demanding faster responses to meet real-life requirements, and machine learning</a:t>
            </a:r>
          </a:p>
          <a:p>
            <a:r>
              <a:rPr lang="en-US"/>
              <a:t>pipelines and model architectures are getting more complex.</a:t>
            </a:r>
            <a:endParaRPr lang="en-IN"/>
          </a:p>
        </p:txBody>
      </p:sp>
    </p:spTree>
    <p:extLst>
      <p:ext uri="{BB962C8B-B14F-4D97-AF65-F5344CB8AC3E}">
        <p14:creationId xmlns:p14="http://schemas.microsoft.com/office/powerpoint/2010/main" val="175607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595651" cy="521970"/>
          </a:xfrm>
          <a:prstGeom prst="rect">
            <a:avLst/>
          </a:prstGeom>
        </p:spPr>
        <p:txBody>
          <a:bodyPr vert="horz" wrap="square" lIns="0" tIns="9525" rIns="0" bIns="0" rtlCol="0">
            <a:spAutoFit/>
          </a:bodyPr>
          <a:lstStyle/>
          <a:p>
            <a:pPr marL="247174">
              <a:spcBef>
                <a:spcPts val="75"/>
              </a:spcBef>
            </a:pPr>
            <a:r>
              <a:rPr lang="en-US" spc="71"/>
              <a:t>Data Partioning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19</a:t>
            </a:fld>
            <a:endParaRPr spc="-19" dirty="0"/>
          </a:p>
        </p:txBody>
      </p:sp>
      <p:pic>
        <p:nvPicPr>
          <p:cNvPr id="3" name="Picture 2"/>
          <p:cNvPicPr>
            <a:picLocks noChangeAspect="1"/>
          </p:cNvPicPr>
          <p:nvPr/>
        </p:nvPicPr>
        <p:blipFill>
          <a:blip r:embed="rId2"/>
          <a:stretch>
            <a:fillRect/>
          </a:stretch>
        </p:blipFill>
        <p:spPr>
          <a:xfrm>
            <a:off x="304800" y="1162448"/>
            <a:ext cx="8153400" cy="3085702"/>
          </a:xfrm>
          <a:prstGeom prst="rect">
            <a:avLst/>
          </a:prstGeom>
        </p:spPr>
      </p:pic>
    </p:spTree>
    <p:extLst>
      <p:ext uri="{BB962C8B-B14F-4D97-AF65-F5344CB8AC3E}">
        <p14:creationId xmlns:p14="http://schemas.microsoft.com/office/powerpoint/2010/main" val="990884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20</a:t>
            </a:fld>
            <a:endParaRPr spc="-19" dirty="0"/>
          </a:p>
        </p:txBody>
      </p:sp>
      <p:pic>
        <p:nvPicPr>
          <p:cNvPr id="3" name="Picture 2"/>
          <p:cNvPicPr>
            <a:picLocks noChangeAspect="1"/>
          </p:cNvPicPr>
          <p:nvPr/>
        </p:nvPicPr>
        <p:blipFill>
          <a:blip r:embed="rId2"/>
          <a:stretch>
            <a:fillRect/>
          </a:stretch>
        </p:blipFill>
        <p:spPr>
          <a:xfrm>
            <a:off x="138149" y="1200150"/>
            <a:ext cx="8472451" cy="3429000"/>
          </a:xfrm>
          <a:prstGeom prst="rect">
            <a:avLst/>
          </a:prstGeom>
        </p:spPr>
      </p:pic>
    </p:spTree>
    <p:extLst>
      <p:ext uri="{BB962C8B-B14F-4D97-AF65-F5344CB8AC3E}">
        <p14:creationId xmlns:p14="http://schemas.microsoft.com/office/powerpoint/2010/main" val="654190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21</a:t>
            </a:fld>
            <a:endParaRPr spc="-19" dirty="0"/>
          </a:p>
        </p:txBody>
      </p:sp>
      <p:pic>
        <p:nvPicPr>
          <p:cNvPr id="3" name="Picture 2"/>
          <p:cNvPicPr>
            <a:picLocks noChangeAspect="1"/>
          </p:cNvPicPr>
          <p:nvPr/>
        </p:nvPicPr>
        <p:blipFill>
          <a:blip r:embed="rId2"/>
          <a:stretch>
            <a:fillRect/>
          </a:stretch>
        </p:blipFill>
        <p:spPr>
          <a:xfrm>
            <a:off x="115495" y="1657350"/>
            <a:ext cx="8610600" cy="1157288"/>
          </a:xfrm>
          <a:prstGeom prst="rect">
            <a:avLst/>
          </a:prstGeom>
        </p:spPr>
      </p:pic>
    </p:spTree>
    <p:extLst>
      <p:ext uri="{BB962C8B-B14F-4D97-AF65-F5344CB8AC3E}">
        <p14:creationId xmlns:p14="http://schemas.microsoft.com/office/powerpoint/2010/main" val="1889084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22</a:t>
            </a:fld>
            <a:endParaRPr spc="-19" dirty="0"/>
          </a:p>
        </p:txBody>
      </p:sp>
      <p:pic>
        <p:nvPicPr>
          <p:cNvPr id="3" name="Picture 2"/>
          <p:cNvPicPr>
            <a:picLocks noChangeAspect="1"/>
          </p:cNvPicPr>
          <p:nvPr/>
        </p:nvPicPr>
        <p:blipFill>
          <a:blip r:embed="rId2"/>
          <a:stretch>
            <a:fillRect/>
          </a:stretch>
        </p:blipFill>
        <p:spPr>
          <a:xfrm>
            <a:off x="457200" y="1047750"/>
            <a:ext cx="8077200" cy="3733800"/>
          </a:xfrm>
          <a:prstGeom prst="rect">
            <a:avLst/>
          </a:prstGeom>
        </p:spPr>
      </p:pic>
    </p:spTree>
    <p:extLst>
      <p:ext uri="{BB962C8B-B14F-4D97-AF65-F5344CB8AC3E}">
        <p14:creationId xmlns:p14="http://schemas.microsoft.com/office/powerpoint/2010/main" val="3373191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23</a:t>
            </a:fld>
            <a:endParaRPr spc="-19" dirty="0"/>
          </a:p>
        </p:txBody>
      </p:sp>
      <p:pic>
        <p:nvPicPr>
          <p:cNvPr id="3" name="Picture 2"/>
          <p:cNvPicPr>
            <a:picLocks noChangeAspect="1"/>
          </p:cNvPicPr>
          <p:nvPr/>
        </p:nvPicPr>
        <p:blipFill>
          <a:blip r:embed="rId2"/>
          <a:stretch>
            <a:fillRect/>
          </a:stretch>
        </p:blipFill>
        <p:spPr>
          <a:xfrm>
            <a:off x="0" y="1200150"/>
            <a:ext cx="8867700" cy="3324225"/>
          </a:xfrm>
          <a:prstGeom prst="rect">
            <a:avLst/>
          </a:prstGeom>
        </p:spPr>
      </p:pic>
    </p:spTree>
    <p:extLst>
      <p:ext uri="{BB962C8B-B14F-4D97-AF65-F5344CB8AC3E}">
        <p14:creationId xmlns:p14="http://schemas.microsoft.com/office/powerpoint/2010/main" val="3025249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24</a:t>
            </a:fld>
            <a:endParaRPr spc="-19" dirty="0"/>
          </a:p>
        </p:txBody>
      </p:sp>
      <p:pic>
        <p:nvPicPr>
          <p:cNvPr id="3" name="Picture 2"/>
          <p:cNvPicPr>
            <a:picLocks noChangeAspect="1"/>
          </p:cNvPicPr>
          <p:nvPr/>
        </p:nvPicPr>
        <p:blipFill>
          <a:blip r:embed="rId2"/>
          <a:stretch>
            <a:fillRect/>
          </a:stretch>
        </p:blipFill>
        <p:spPr>
          <a:xfrm>
            <a:off x="381000" y="1276350"/>
            <a:ext cx="8153400" cy="3200400"/>
          </a:xfrm>
          <a:prstGeom prst="rect">
            <a:avLst/>
          </a:prstGeom>
        </p:spPr>
      </p:pic>
    </p:spTree>
    <p:extLst>
      <p:ext uri="{BB962C8B-B14F-4D97-AF65-F5344CB8AC3E}">
        <p14:creationId xmlns:p14="http://schemas.microsoft.com/office/powerpoint/2010/main" val="402093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25</a:t>
            </a:fld>
            <a:endParaRPr spc="-19" dirty="0"/>
          </a:p>
        </p:txBody>
      </p:sp>
      <p:pic>
        <p:nvPicPr>
          <p:cNvPr id="3" name="Picture 2"/>
          <p:cNvPicPr>
            <a:picLocks noChangeAspect="1"/>
          </p:cNvPicPr>
          <p:nvPr/>
        </p:nvPicPr>
        <p:blipFill>
          <a:blip r:embed="rId2"/>
          <a:stretch>
            <a:fillRect/>
          </a:stretch>
        </p:blipFill>
        <p:spPr>
          <a:xfrm>
            <a:off x="18534" y="1167310"/>
            <a:ext cx="9125465" cy="2557263"/>
          </a:xfrm>
          <a:prstGeom prst="rect">
            <a:avLst/>
          </a:prstGeom>
        </p:spPr>
      </p:pic>
    </p:spTree>
    <p:extLst>
      <p:ext uri="{BB962C8B-B14F-4D97-AF65-F5344CB8AC3E}">
        <p14:creationId xmlns:p14="http://schemas.microsoft.com/office/powerpoint/2010/main" val="229638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26</a:t>
            </a:fld>
            <a:endParaRPr spc="-19" dirty="0"/>
          </a:p>
        </p:txBody>
      </p:sp>
      <p:pic>
        <p:nvPicPr>
          <p:cNvPr id="3" name="Picture 2"/>
          <p:cNvPicPr>
            <a:picLocks noChangeAspect="1"/>
          </p:cNvPicPr>
          <p:nvPr/>
        </p:nvPicPr>
        <p:blipFill>
          <a:blip r:embed="rId3"/>
          <a:stretch>
            <a:fillRect/>
          </a:stretch>
        </p:blipFill>
        <p:spPr>
          <a:xfrm>
            <a:off x="381000" y="1219200"/>
            <a:ext cx="8305800" cy="3333750"/>
          </a:xfrm>
          <a:prstGeom prst="rect">
            <a:avLst/>
          </a:prstGeom>
        </p:spPr>
      </p:pic>
    </p:spTree>
    <p:extLst>
      <p:ext uri="{BB962C8B-B14F-4D97-AF65-F5344CB8AC3E}">
        <p14:creationId xmlns:p14="http://schemas.microsoft.com/office/powerpoint/2010/main" val="1922180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27</a:t>
            </a:fld>
            <a:endParaRPr spc="-19" dirty="0"/>
          </a:p>
        </p:txBody>
      </p:sp>
      <p:pic>
        <p:nvPicPr>
          <p:cNvPr id="4" name="Picture 3"/>
          <p:cNvPicPr>
            <a:picLocks noChangeAspect="1"/>
          </p:cNvPicPr>
          <p:nvPr/>
        </p:nvPicPr>
        <p:blipFill>
          <a:blip r:embed="rId2"/>
          <a:stretch>
            <a:fillRect/>
          </a:stretch>
        </p:blipFill>
        <p:spPr>
          <a:xfrm>
            <a:off x="762000" y="819150"/>
            <a:ext cx="7000875" cy="4191000"/>
          </a:xfrm>
          <a:prstGeom prst="rect">
            <a:avLst/>
          </a:prstGeom>
        </p:spPr>
      </p:pic>
    </p:spTree>
    <p:extLst>
      <p:ext uri="{BB962C8B-B14F-4D97-AF65-F5344CB8AC3E}">
        <p14:creationId xmlns:p14="http://schemas.microsoft.com/office/powerpoint/2010/main" val="2728729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28</a:t>
            </a:fld>
            <a:endParaRPr spc="-19" dirty="0"/>
          </a:p>
        </p:txBody>
      </p:sp>
      <p:pic>
        <p:nvPicPr>
          <p:cNvPr id="3" name="Picture 2"/>
          <p:cNvPicPr>
            <a:picLocks noChangeAspect="1"/>
          </p:cNvPicPr>
          <p:nvPr/>
        </p:nvPicPr>
        <p:blipFill>
          <a:blip r:embed="rId2"/>
          <a:stretch>
            <a:fillRect/>
          </a:stretch>
        </p:blipFill>
        <p:spPr>
          <a:xfrm>
            <a:off x="838200" y="1428750"/>
            <a:ext cx="7543800" cy="1152525"/>
          </a:xfrm>
          <a:prstGeom prst="rect">
            <a:avLst/>
          </a:prstGeom>
        </p:spPr>
      </p:pic>
    </p:spTree>
    <p:extLst>
      <p:ext uri="{BB962C8B-B14F-4D97-AF65-F5344CB8AC3E}">
        <p14:creationId xmlns:p14="http://schemas.microsoft.com/office/powerpoint/2010/main" val="1241683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29</a:t>
            </a:fld>
            <a:endParaRPr spc="-19" dirty="0"/>
          </a:p>
        </p:txBody>
      </p:sp>
      <p:pic>
        <p:nvPicPr>
          <p:cNvPr id="3" name="Picture 2"/>
          <p:cNvPicPr>
            <a:picLocks noChangeAspect="1"/>
          </p:cNvPicPr>
          <p:nvPr/>
        </p:nvPicPr>
        <p:blipFill>
          <a:blip r:embed="rId2"/>
          <a:stretch>
            <a:fillRect/>
          </a:stretch>
        </p:blipFill>
        <p:spPr>
          <a:xfrm>
            <a:off x="172309" y="1200150"/>
            <a:ext cx="6549396" cy="2409825"/>
          </a:xfrm>
          <a:prstGeom prst="rect">
            <a:avLst/>
          </a:prstGeom>
        </p:spPr>
      </p:pic>
      <p:pic>
        <p:nvPicPr>
          <p:cNvPr id="4" name="Picture 3"/>
          <p:cNvPicPr>
            <a:picLocks noChangeAspect="1"/>
          </p:cNvPicPr>
          <p:nvPr/>
        </p:nvPicPr>
        <p:blipFill>
          <a:blip r:embed="rId3"/>
          <a:stretch>
            <a:fillRect/>
          </a:stretch>
        </p:blipFill>
        <p:spPr>
          <a:xfrm>
            <a:off x="5350877" y="646031"/>
            <a:ext cx="3654972" cy="1395910"/>
          </a:xfrm>
          <a:prstGeom prst="rect">
            <a:avLst/>
          </a:prstGeom>
        </p:spPr>
      </p:pic>
    </p:spTree>
    <p:extLst>
      <p:ext uri="{BB962C8B-B14F-4D97-AF65-F5344CB8AC3E}">
        <p14:creationId xmlns:p14="http://schemas.microsoft.com/office/powerpoint/2010/main" val="1823993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30</a:t>
            </a:fld>
            <a:endParaRPr spc="-19" dirty="0"/>
          </a:p>
        </p:txBody>
      </p:sp>
      <p:pic>
        <p:nvPicPr>
          <p:cNvPr id="4" name="Picture 3"/>
          <p:cNvPicPr>
            <a:picLocks noChangeAspect="1"/>
          </p:cNvPicPr>
          <p:nvPr/>
        </p:nvPicPr>
        <p:blipFill>
          <a:blip r:embed="rId2"/>
          <a:stretch>
            <a:fillRect/>
          </a:stretch>
        </p:blipFill>
        <p:spPr>
          <a:xfrm>
            <a:off x="5350877" y="646031"/>
            <a:ext cx="3654972" cy="1395910"/>
          </a:xfrm>
          <a:prstGeom prst="rect">
            <a:avLst/>
          </a:prstGeom>
        </p:spPr>
      </p:pic>
      <p:pic>
        <p:nvPicPr>
          <p:cNvPr id="6" name="Picture 5"/>
          <p:cNvPicPr>
            <a:picLocks noChangeAspect="1"/>
          </p:cNvPicPr>
          <p:nvPr/>
        </p:nvPicPr>
        <p:blipFill>
          <a:blip r:embed="rId3"/>
          <a:stretch>
            <a:fillRect/>
          </a:stretch>
        </p:blipFill>
        <p:spPr>
          <a:xfrm>
            <a:off x="11622" y="2015008"/>
            <a:ext cx="6541578" cy="2890040"/>
          </a:xfrm>
          <a:prstGeom prst="rect">
            <a:avLst/>
          </a:prstGeom>
        </p:spPr>
      </p:pic>
    </p:spTree>
    <p:extLst>
      <p:ext uri="{BB962C8B-B14F-4D97-AF65-F5344CB8AC3E}">
        <p14:creationId xmlns:p14="http://schemas.microsoft.com/office/powerpoint/2010/main" val="2799291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31</a:t>
            </a:fld>
            <a:endParaRPr spc="-19" dirty="0"/>
          </a:p>
        </p:txBody>
      </p:sp>
      <p:pic>
        <p:nvPicPr>
          <p:cNvPr id="3" name="Picture 2"/>
          <p:cNvPicPr>
            <a:picLocks noChangeAspect="1"/>
          </p:cNvPicPr>
          <p:nvPr/>
        </p:nvPicPr>
        <p:blipFill>
          <a:blip r:embed="rId2"/>
          <a:stretch>
            <a:fillRect/>
          </a:stretch>
        </p:blipFill>
        <p:spPr>
          <a:xfrm>
            <a:off x="73100" y="1047750"/>
            <a:ext cx="6791325" cy="2600623"/>
          </a:xfrm>
          <a:prstGeom prst="rect">
            <a:avLst/>
          </a:prstGeom>
        </p:spPr>
      </p:pic>
      <p:pic>
        <p:nvPicPr>
          <p:cNvPr id="4" name="Picture 3"/>
          <p:cNvPicPr>
            <a:picLocks noChangeAspect="1"/>
          </p:cNvPicPr>
          <p:nvPr/>
        </p:nvPicPr>
        <p:blipFill>
          <a:blip r:embed="rId3"/>
          <a:stretch>
            <a:fillRect/>
          </a:stretch>
        </p:blipFill>
        <p:spPr>
          <a:xfrm>
            <a:off x="5959031" y="3486150"/>
            <a:ext cx="3017915" cy="1386534"/>
          </a:xfrm>
          <a:prstGeom prst="rect">
            <a:avLst/>
          </a:prstGeom>
        </p:spPr>
      </p:pic>
    </p:spTree>
    <p:extLst>
      <p:ext uri="{BB962C8B-B14F-4D97-AF65-F5344CB8AC3E}">
        <p14:creationId xmlns:p14="http://schemas.microsoft.com/office/powerpoint/2010/main" val="2002297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32</a:t>
            </a:fld>
            <a:endParaRPr spc="-19" dirty="0"/>
          </a:p>
        </p:txBody>
      </p:sp>
      <p:pic>
        <p:nvPicPr>
          <p:cNvPr id="3" name="Picture 2"/>
          <p:cNvPicPr>
            <a:picLocks noChangeAspect="1"/>
          </p:cNvPicPr>
          <p:nvPr/>
        </p:nvPicPr>
        <p:blipFill>
          <a:blip r:embed="rId2"/>
          <a:stretch>
            <a:fillRect/>
          </a:stretch>
        </p:blipFill>
        <p:spPr>
          <a:xfrm>
            <a:off x="138149" y="1175813"/>
            <a:ext cx="8243851" cy="2815659"/>
          </a:xfrm>
          <a:prstGeom prst="rect">
            <a:avLst/>
          </a:prstGeom>
        </p:spPr>
      </p:pic>
    </p:spTree>
    <p:extLst>
      <p:ext uri="{BB962C8B-B14F-4D97-AF65-F5344CB8AC3E}">
        <p14:creationId xmlns:p14="http://schemas.microsoft.com/office/powerpoint/2010/main" val="915458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33</a:t>
            </a:fld>
            <a:endParaRPr spc="-19" dirty="0"/>
          </a:p>
        </p:txBody>
      </p:sp>
      <p:pic>
        <p:nvPicPr>
          <p:cNvPr id="3" name="Picture 2"/>
          <p:cNvPicPr>
            <a:picLocks noChangeAspect="1"/>
          </p:cNvPicPr>
          <p:nvPr/>
        </p:nvPicPr>
        <p:blipFill>
          <a:blip r:embed="rId2"/>
          <a:stretch>
            <a:fillRect/>
          </a:stretch>
        </p:blipFill>
        <p:spPr>
          <a:xfrm>
            <a:off x="138149" y="1200150"/>
            <a:ext cx="7772400" cy="2372023"/>
          </a:xfrm>
          <a:prstGeom prst="rect">
            <a:avLst/>
          </a:prstGeom>
        </p:spPr>
      </p:pic>
    </p:spTree>
    <p:extLst>
      <p:ext uri="{BB962C8B-B14F-4D97-AF65-F5344CB8AC3E}">
        <p14:creationId xmlns:p14="http://schemas.microsoft.com/office/powerpoint/2010/main" val="2944024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34</a:t>
            </a:fld>
            <a:endParaRPr spc="-19" dirty="0"/>
          </a:p>
        </p:txBody>
      </p:sp>
      <p:pic>
        <p:nvPicPr>
          <p:cNvPr id="3" name="Picture 2"/>
          <p:cNvPicPr>
            <a:picLocks noChangeAspect="1"/>
          </p:cNvPicPr>
          <p:nvPr/>
        </p:nvPicPr>
        <p:blipFill>
          <a:blip r:embed="rId2"/>
          <a:stretch>
            <a:fillRect/>
          </a:stretch>
        </p:blipFill>
        <p:spPr>
          <a:xfrm>
            <a:off x="117128" y="1047572"/>
            <a:ext cx="8243851" cy="2372023"/>
          </a:xfrm>
          <a:prstGeom prst="rect">
            <a:avLst/>
          </a:prstGeom>
        </p:spPr>
      </p:pic>
    </p:spTree>
    <p:extLst>
      <p:ext uri="{BB962C8B-B14F-4D97-AF65-F5344CB8AC3E}">
        <p14:creationId xmlns:p14="http://schemas.microsoft.com/office/powerpoint/2010/main" val="246165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35</a:t>
            </a:fld>
            <a:endParaRPr spc="-19" dirty="0"/>
          </a:p>
        </p:txBody>
      </p:sp>
      <p:pic>
        <p:nvPicPr>
          <p:cNvPr id="3" name="Picture 2"/>
          <p:cNvPicPr>
            <a:picLocks noChangeAspect="1"/>
          </p:cNvPicPr>
          <p:nvPr/>
        </p:nvPicPr>
        <p:blipFill>
          <a:blip r:embed="rId2"/>
          <a:stretch>
            <a:fillRect/>
          </a:stretch>
        </p:blipFill>
        <p:spPr>
          <a:xfrm>
            <a:off x="685800" y="1123950"/>
            <a:ext cx="8001000" cy="3514725"/>
          </a:xfrm>
          <a:prstGeom prst="rect">
            <a:avLst/>
          </a:prstGeom>
        </p:spPr>
      </p:pic>
    </p:spTree>
    <p:extLst>
      <p:ext uri="{BB962C8B-B14F-4D97-AF65-F5344CB8AC3E}">
        <p14:creationId xmlns:p14="http://schemas.microsoft.com/office/powerpoint/2010/main" val="23461874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671851" cy="517449"/>
          </a:xfrm>
          <a:prstGeom prst="rect">
            <a:avLst/>
          </a:prstGeom>
        </p:spPr>
        <p:txBody>
          <a:bodyPr vert="horz" wrap="square" lIns="0" tIns="9525" rIns="0" bIns="0" rtlCol="0">
            <a:spAutoFit/>
          </a:bodyPr>
          <a:lstStyle/>
          <a:p>
            <a:pPr marL="247174">
              <a:spcBef>
                <a:spcPts val="75"/>
              </a:spcBef>
            </a:pPr>
            <a:r>
              <a:rPr lang="en-US" spc="71"/>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36</a:t>
            </a:fld>
            <a:endParaRPr spc="-19" dirty="0"/>
          </a:p>
        </p:txBody>
      </p:sp>
      <p:pic>
        <p:nvPicPr>
          <p:cNvPr id="1026" name="Picture 2" descr="Upload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47750"/>
            <a:ext cx="6143625" cy="3286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343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37</a:t>
            </a:fld>
            <a:endParaRPr spc="-19" dirty="0"/>
          </a:p>
        </p:txBody>
      </p:sp>
      <p:pic>
        <p:nvPicPr>
          <p:cNvPr id="3" name="Picture 2"/>
          <p:cNvPicPr>
            <a:picLocks noChangeAspect="1"/>
          </p:cNvPicPr>
          <p:nvPr/>
        </p:nvPicPr>
        <p:blipFill>
          <a:blip r:embed="rId2"/>
          <a:stretch>
            <a:fillRect/>
          </a:stretch>
        </p:blipFill>
        <p:spPr>
          <a:xfrm>
            <a:off x="381000" y="1123950"/>
            <a:ext cx="7848600" cy="3038177"/>
          </a:xfrm>
          <a:prstGeom prst="rect">
            <a:avLst/>
          </a:prstGeom>
        </p:spPr>
      </p:pic>
    </p:spTree>
    <p:extLst>
      <p:ext uri="{BB962C8B-B14F-4D97-AF65-F5344CB8AC3E}">
        <p14:creationId xmlns:p14="http://schemas.microsoft.com/office/powerpoint/2010/main" val="1659196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4814851" cy="517449"/>
          </a:xfrm>
          <a:prstGeom prst="rect">
            <a:avLst/>
          </a:prstGeom>
        </p:spPr>
        <p:txBody>
          <a:bodyPr vert="horz" wrap="square" lIns="0" tIns="9525" rIns="0" bIns="0" rtlCol="0">
            <a:spAutoFit/>
          </a:bodyPr>
          <a:lstStyle/>
          <a:p>
            <a:r>
              <a:rPr lang="en-IN"/>
              <a:t>Multiprocessing Theory</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38</a:t>
            </a:fld>
            <a:endParaRPr spc="-19" dirty="0"/>
          </a:p>
        </p:txBody>
      </p:sp>
      <p:sp>
        <p:nvSpPr>
          <p:cNvPr id="4" name="Rectangle 3"/>
          <p:cNvSpPr/>
          <p:nvPr/>
        </p:nvSpPr>
        <p:spPr>
          <a:xfrm>
            <a:off x="114501" y="1123950"/>
            <a:ext cx="9144000" cy="3139321"/>
          </a:xfrm>
          <a:prstGeom prst="rect">
            <a:avLst/>
          </a:prstGeom>
        </p:spPr>
        <p:txBody>
          <a:bodyPr wrap="square">
            <a:spAutoFit/>
          </a:bodyPr>
          <a:lstStyle/>
          <a:p>
            <a:r>
              <a:rPr lang="en-IN"/>
              <a:t>Multiprocessing is a method that allows the execution of multiple processes simultaneously, leveraging multiple CPU cores. This can significantly speed up computations, especially for CPU-bound tasks, by dividing the work among several processors.</a:t>
            </a:r>
          </a:p>
          <a:p>
            <a:endParaRPr lang="en-IN"/>
          </a:p>
          <a:p>
            <a:r>
              <a:rPr lang="en-IN"/>
              <a:t>Key Concepts</a:t>
            </a:r>
          </a:p>
          <a:p>
            <a:r>
              <a:rPr lang="en-IN"/>
              <a:t>Process:</a:t>
            </a:r>
          </a:p>
          <a:p>
            <a:endParaRPr lang="en-IN"/>
          </a:p>
          <a:p>
            <a:r>
              <a:rPr lang="en-IN"/>
              <a:t>A process is an independent unit of execution that has its own memory space. Each process runs separately and does not share its memory with other processes.</a:t>
            </a:r>
          </a:p>
          <a:p>
            <a:endParaRPr lang="en-IN"/>
          </a:p>
        </p:txBody>
      </p:sp>
    </p:spTree>
    <p:extLst>
      <p:ext uri="{BB962C8B-B14F-4D97-AF65-F5344CB8AC3E}">
        <p14:creationId xmlns:p14="http://schemas.microsoft.com/office/powerpoint/2010/main" val="323579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39</a:t>
            </a:fld>
            <a:endParaRPr spc="-19" dirty="0"/>
          </a:p>
        </p:txBody>
      </p:sp>
      <p:sp>
        <p:nvSpPr>
          <p:cNvPr id="4" name="Rectangle 3"/>
          <p:cNvSpPr/>
          <p:nvPr/>
        </p:nvSpPr>
        <p:spPr>
          <a:xfrm>
            <a:off x="138149" y="1129151"/>
            <a:ext cx="8777251" cy="3139321"/>
          </a:xfrm>
          <a:prstGeom prst="rect">
            <a:avLst/>
          </a:prstGeom>
        </p:spPr>
        <p:txBody>
          <a:bodyPr wrap="square">
            <a:spAutoFit/>
          </a:bodyPr>
          <a:lstStyle/>
          <a:p>
            <a:r>
              <a:rPr lang="en-IN"/>
              <a:t>Thread:</a:t>
            </a:r>
          </a:p>
          <a:p>
            <a:endParaRPr lang="en-IN"/>
          </a:p>
          <a:p>
            <a:r>
              <a:rPr lang="en-IN"/>
              <a:t>A thread is the smallest unit of execution within a process. Multiple threads within the same process share the same memory space.</a:t>
            </a:r>
          </a:p>
          <a:p>
            <a:r>
              <a:rPr lang="en-IN"/>
              <a:t>Concurrency vs. Parallelism:</a:t>
            </a:r>
          </a:p>
          <a:p>
            <a:endParaRPr lang="en-IN"/>
          </a:p>
          <a:p>
            <a:r>
              <a:rPr lang="en-IN"/>
              <a:t>Concurrency involves multiple tasks making progress, often by switching between them (context switching).</a:t>
            </a:r>
          </a:p>
          <a:p>
            <a:endParaRPr lang="en-IN"/>
          </a:p>
          <a:p>
            <a:r>
              <a:rPr lang="en-IN"/>
              <a:t>Parallelism involves multiple tasks running at the same time on different processors or cores.</a:t>
            </a:r>
          </a:p>
        </p:txBody>
      </p:sp>
    </p:spTree>
    <p:extLst>
      <p:ext uri="{BB962C8B-B14F-4D97-AF65-F5344CB8AC3E}">
        <p14:creationId xmlns:p14="http://schemas.microsoft.com/office/powerpoint/2010/main" val="1565673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40</a:t>
            </a:fld>
            <a:endParaRPr spc="-19" dirty="0"/>
          </a:p>
        </p:txBody>
      </p:sp>
      <p:sp>
        <p:nvSpPr>
          <p:cNvPr id="3" name="Rectangle 2"/>
          <p:cNvSpPr/>
          <p:nvPr/>
        </p:nvSpPr>
        <p:spPr>
          <a:xfrm>
            <a:off x="-10510" y="1123950"/>
            <a:ext cx="9154510" cy="923330"/>
          </a:xfrm>
          <a:prstGeom prst="rect">
            <a:avLst/>
          </a:prstGeom>
        </p:spPr>
        <p:txBody>
          <a:bodyPr wrap="square">
            <a:spAutoFit/>
          </a:bodyPr>
          <a:lstStyle/>
          <a:p>
            <a:r>
              <a:rPr lang="en-IN"/>
              <a:t>The work-queue pattern helps distribute tasks among multiple workers, allowing for parallel processing. Each worker picks up tasks from the queue, processes them, and then returns for more work until all tasks are completed.</a:t>
            </a:r>
          </a:p>
        </p:txBody>
      </p:sp>
    </p:spTree>
    <p:extLst>
      <p:ext uri="{BB962C8B-B14F-4D97-AF65-F5344CB8AC3E}">
        <p14:creationId xmlns:p14="http://schemas.microsoft.com/office/powerpoint/2010/main" val="2450024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41</a:t>
            </a:fld>
            <a:endParaRPr spc="-19" dirty="0"/>
          </a:p>
        </p:txBody>
      </p:sp>
      <p:sp>
        <p:nvSpPr>
          <p:cNvPr id="4" name="Rectangle 3"/>
          <p:cNvSpPr/>
          <p:nvPr/>
        </p:nvSpPr>
        <p:spPr>
          <a:xfrm>
            <a:off x="-76200" y="1002090"/>
            <a:ext cx="9220200" cy="1477328"/>
          </a:xfrm>
          <a:prstGeom prst="rect">
            <a:avLst/>
          </a:prstGeom>
        </p:spPr>
        <p:txBody>
          <a:bodyPr wrap="square">
            <a:spAutoFit/>
          </a:bodyPr>
          <a:lstStyle/>
          <a:p>
            <a:r>
              <a:rPr lang="en-IN"/>
              <a:t>What exactly are distributed systems?</a:t>
            </a:r>
          </a:p>
          <a:p>
            <a:endParaRPr lang="en-IN"/>
          </a:p>
          <a:p>
            <a:r>
              <a:rPr lang="en-IN"/>
              <a:t>A distributed system, in simple terms, is a network of computers that work together as a unified unit. This unified unit ensures that users like us experience the internet and related services seamlessly.</a:t>
            </a:r>
          </a:p>
        </p:txBody>
      </p:sp>
      <p:sp>
        <p:nvSpPr>
          <p:cNvPr id="6" name="Rectangle 5"/>
          <p:cNvSpPr/>
          <p:nvPr/>
        </p:nvSpPr>
        <p:spPr>
          <a:xfrm>
            <a:off x="2629" y="2597119"/>
            <a:ext cx="9141372" cy="1754326"/>
          </a:xfrm>
          <a:prstGeom prst="rect">
            <a:avLst/>
          </a:prstGeom>
        </p:spPr>
        <p:txBody>
          <a:bodyPr wrap="square">
            <a:spAutoFit/>
          </a:bodyPr>
          <a:lstStyle/>
          <a:p>
            <a:r>
              <a:rPr lang="en-IN"/>
              <a:t>In technical terms, a distributed system is a model in which components located on </a:t>
            </a:r>
            <a:r>
              <a:rPr lang="en-IN">
                <a:solidFill>
                  <a:srgbClr val="FF0000"/>
                </a:solidFill>
              </a:rPr>
              <a:t>networked</a:t>
            </a:r>
            <a:r>
              <a:rPr lang="en-IN"/>
              <a:t> computers </a:t>
            </a:r>
            <a:r>
              <a:rPr lang="en-IN">
                <a:solidFill>
                  <a:srgbClr val="FF0000"/>
                </a:solidFill>
              </a:rPr>
              <a:t>communicate</a:t>
            </a:r>
            <a:r>
              <a:rPr lang="en-IN"/>
              <a:t> and coordinate their actions only by passing messages. </a:t>
            </a:r>
          </a:p>
          <a:p>
            <a:endParaRPr lang="en-IN"/>
          </a:p>
          <a:p>
            <a:r>
              <a:rPr lang="en-IN"/>
              <a:t>These systems are everywhere - from the web services you use daily like Amazon and Google, to your banking app, and even the servers that host the multiplayer games.</a:t>
            </a:r>
          </a:p>
        </p:txBody>
      </p:sp>
    </p:spTree>
    <p:extLst>
      <p:ext uri="{BB962C8B-B14F-4D97-AF65-F5344CB8AC3E}">
        <p14:creationId xmlns:p14="http://schemas.microsoft.com/office/powerpoint/2010/main" val="1916585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Why Distributed Systems Matter in machine learning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42</a:t>
            </a:fld>
            <a:endParaRPr spc="-19" dirty="0"/>
          </a:p>
        </p:txBody>
      </p:sp>
      <p:pic>
        <p:nvPicPr>
          <p:cNvPr id="3" name="Picture 2"/>
          <p:cNvPicPr>
            <a:picLocks noChangeAspect="1"/>
          </p:cNvPicPr>
          <p:nvPr/>
        </p:nvPicPr>
        <p:blipFill>
          <a:blip r:embed="rId2"/>
          <a:stretch>
            <a:fillRect/>
          </a:stretch>
        </p:blipFill>
        <p:spPr>
          <a:xfrm>
            <a:off x="228600" y="1200150"/>
            <a:ext cx="8458200" cy="2438400"/>
          </a:xfrm>
          <a:prstGeom prst="rect">
            <a:avLst/>
          </a:prstGeom>
        </p:spPr>
      </p:pic>
    </p:spTree>
    <p:extLst>
      <p:ext uri="{BB962C8B-B14F-4D97-AF65-F5344CB8AC3E}">
        <p14:creationId xmlns:p14="http://schemas.microsoft.com/office/powerpoint/2010/main" val="463728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43</a:t>
            </a:fld>
            <a:endParaRPr spc="-19" dirty="0"/>
          </a:p>
        </p:txBody>
      </p:sp>
      <p:pic>
        <p:nvPicPr>
          <p:cNvPr id="3" name="Picture 2"/>
          <p:cNvPicPr>
            <a:picLocks noChangeAspect="1"/>
          </p:cNvPicPr>
          <p:nvPr/>
        </p:nvPicPr>
        <p:blipFill>
          <a:blip r:embed="rId2"/>
          <a:stretch>
            <a:fillRect/>
          </a:stretch>
        </p:blipFill>
        <p:spPr>
          <a:xfrm>
            <a:off x="304800" y="1552574"/>
            <a:ext cx="8229599" cy="2238375"/>
          </a:xfrm>
          <a:prstGeom prst="rect">
            <a:avLst/>
          </a:prstGeom>
        </p:spPr>
      </p:pic>
    </p:spTree>
    <p:extLst>
      <p:ext uri="{BB962C8B-B14F-4D97-AF65-F5344CB8AC3E}">
        <p14:creationId xmlns:p14="http://schemas.microsoft.com/office/powerpoint/2010/main" val="3602518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44</a:t>
            </a:fld>
            <a:endParaRPr spc="-19" dirty="0"/>
          </a:p>
        </p:txBody>
      </p:sp>
      <p:pic>
        <p:nvPicPr>
          <p:cNvPr id="3" name="Picture 2"/>
          <p:cNvPicPr>
            <a:picLocks noChangeAspect="1"/>
          </p:cNvPicPr>
          <p:nvPr/>
        </p:nvPicPr>
        <p:blipFill>
          <a:blip r:embed="rId2"/>
          <a:stretch>
            <a:fillRect/>
          </a:stretch>
        </p:blipFill>
        <p:spPr>
          <a:xfrm>
            <a:off x="152400" y="1619250"/>
            <a:ext cx="8763000" cy="2171700"/>
          </a:xfrm>
          <a:prstGeom prst="rect">
            <a:avLst/>
          </a:prstGeom>
        </p:spPr>
      </p:pic>
    </p:spTree>
    <p:extLst>
      <p:ext uri="{BB962C8B-B14F-4D97-AF65-F5344CB8AC3E}">
        <p14:creationId xmlns:p14="http://schemas.microsoft.com/office/powerpoint/2010/main" val="448653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45</a:t>
            </a:fld>
            <a:endParaRPr spc="-19" dirty="0"/>
          </a:p>
        </p:txBody>
      </p:sp>
      <p:pic>
        <p:nvPicPr>
          <p:cNvPr id="3" name="Picture 2"/>
          <p:cNvPicPr>
            <a:picLocks noChangeAspect="1"/>
          </p:cNvPicPr>
          <p:nvPr/>
        </p:nvPicPr>
        <p:blipFill>
          <a:blip r:embed="rId2"/>
          <a:stretch>
            <a:fillRect/>
          </a:stretch>
        </p:blipFill>
        <p:spPr>
          <a:xfrm>
            <a:off x="152400" y="1581149"/>
            <a:ext cx="8686800" cy="2143423"/>
          </a:xfrm>
          <a:prstGeom prst="rect">
            <a:avLst/>
          </a:prstGeom>
        </p:spPr>
      </p:pic>
    </p:spTree>
    <p:extLst>
      <p:ext uri="{BB962C8B-B14F-4D97-AF65-F5344CB8AC3E}">
        <p14:creationId xmlns:p14="http://schemas.microsoft.com/office/powerpoint/2010/main" val="1199981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46</a:t>
            </a:fld>
            <a:endParaRPr spc="-19" dirty="0"/>
          </a:p>
        </p:txBody>
      </p:sp>
      <p:pic>
        <p:nvPicPr>
          <p:cNvPr id="3" name="Picture 2"/>
          <p:cNvPicPr>
            <a:picLocks noChangeAspect="1"/>
          </p:cNvPicPr>
          <p:nvPr/>
        </p:nvPicPr>
        <p:blipFill>
          <a:blip r:embed="rId2"/>
          <a:stretch>
            <a:fillRect/>
          </a:stretch>
        </p:blipFill>
        <p:spPr>
          <a:xfrm>
            <a:off x="178676" y="1352550"/>
            <a:ext cx="8686799" cy="1295400"/>
          </a:xfrm>
          <a:prstGeom prst="rect">
            <a:avLst/>
          </a:prstGeom>
        </p:spPr>
      </p:pic>
    </p:spTree>
    <p:extLst>
      <p:ext uri="{BB962C8B-B14F-4D97-AF65-F5344CB8AC3E}">
        <p14:creationId xmlns:p14="http://schemas.microsoft.com/office/powerpoint/2010/main" val="314411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47</a:t>
            </a:fld>
            <a:endParaRPr spc="-19" dirty="0"/>
          </a:p>
        </p:txBody>
      </p:sp>
      <p:pic>
        <p:nvPicPr>
          <p:cNvPr id="3" name="Picture 2"/>
          <p:cNvPicPr>
            <a:picLocks noChangeAspect="1"/>
          </p:cNvPicPr>
          <p:nvPr/>
        </p:nvPicPr>
        <p:blipFill>
          <a:blip r:embed="rId2"/>
          <a:stretch>
            <a:fillRect/>
          </a:stretch>
        </p:blipFill>
        <p:spPr>
          <a:xfrm>
            <a:off x="990600" y="1032507"/>
            <a:ext cx="7029450" cy="3949068"/>
          </a:xfrm>
          <a:prstGeom prst="rect">
            <a:avLst/>
          </a:prstGeom>
        </p:spPr>
      </p:pic>
    </p:spTree>
    <p:extLst>
      <p:ext uri="{BB962C8B-B14F-4D97-AF65-F5344CB8AC3E}">
        <p14:creationId xmlns:p14="http://schemas.microsoft.com/office/powerpoint/2010/main" val="33293515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48</a:t>
            </a:fld>
            <a:endParaRPr spc="-19" dirty="0"/>
          </a:p>
        </p:txBody>
      </p:sp>
      <p:sp>
        <p:nvSpPr>
          <p:cNvPr id="3" name="Rectangle 2"/>
          <p:cNvSpPr/>
          <p:nvPr/>
        </p:nvSpPr>
        <p:spPr>
          <a:xfrm>
            <a:off x="0" y="1123950"/>
            <a:ext cx="9144000" cy="923330"/>
          </a:xfrm>
          <a:prstGeom prst="rect">
            <a:avLst/>
          </a:prstGeom>
        </p:spPr>
        <p:txBody>
          <a:bodyPr wrap="square">
            <a:spAutoFit/>
          </a:bodyPr>
          <a:lstStyle/>
          <a:p>
            <a:r>
              <a:rPr lang="en-IN"/>
              <a:t>You see, consistency in a distributed system ensures that all users view the same data at the same time, irrespective of their location or the part of the system they are accessing.</a:t>
            </a:r>
          </a:p>
        </p:txBody>
      </p:sp>
    </p:spTree>
    <p:extLst>
      <p:ext uri="{BB962C8B-B14F-4D97-AF65-F5344CB8AC3E}">
        <p14:creationId xmlns:p14="http://schemas.microsoft.com/office/powerpoint/2010/main" val="2016438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49</a:t>
            </a:fld>
            <a:endParaRPr spc="-19" dirty="0"/>
          </a:p>
        </p:txBody>
      </p:sp>
      <p:pic>
        <p:nvPicPr>
          <p:cNvPr id="4" name="Picture 3"/>
          <p:cNvPicPr>
            <a:picLocks noChangeAspect="1"/>
          </p:cNvPicPr>
          <p:nvPr/>
        </p:nvPicPr>
        <p:blipFill>
          <a:blip r:embed="rId2"/>
          <a:stretch>
            <a:fillRect/>
          </a:stretch>
        </p:blipFill>
        <p:spPr>
          <a:xfrm>
            <a:off x="900076" y="1018712"/>
            <a:ext cx="6962775" cy="3762375"/>
          </a:xfrm>
          <a:prstGeom prst="rect">
            <a:avLst/>
          </a:prstGeom>
        </p:spPr>
      </p:pic>
    </p:spTree>
    <p:extLst>
      <p:ext uri="{BB962C8B-B14F-4D97-AF65-F5344CB8AC3E}">
        <p14:creationId xmlns:p14="http://schemas.microsoft.com/office/powerpoint/2010/main" val="2095160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50</a:t>
            </a:fld>
            <a:endParaRPr spc="-19" dirty="0"/>
          </a:p>
        </p:txBody>
      </p:sp>
      <p:pic>
        <p:nvPicPr>
          <p:cNvPr id="3" name="Picture 2"/>
          <p:cNvPicPr>
            <a:picLocks noChangeAspect="1"/>
          </p:cNvPicPr>
          <p:nvPr/>
        </p:nvPicPr>
        <p:blipFill>
          <a:blip r:embed="rId2"/>
          <a:stretch>
            <a:fillRect/>
          </a:stretch>
        </p:blipFill>
        <p:spPr>
          <a:xfrm>
            <a:off x="1295400" y="1047616"/>
            <a:ext cx="6962775" cy="3867150"/>
          </a:xfrm>
          <a:prstGeom prst="rect">
            <a:avLst/>
          </a:prstGeom>
        </p:spPr>
      </p:pic>
    </p:spTree>
    <p:extLst>
      <p:ext uri="{BB962C8B-B14F-4D97-AF65-F5344CB8AC3E}">
        <p14:creationId xmlns:p14="http://schemas.microsoft.com/office/powerpoint/2010/main" val="4223996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51</a:t>
            </a:fld>
            <a:endParaRPr spc="-19" dirty="0"/>
          </a:p>
        </p:txBody>
      </p:sp>
    </p:spTree>
    <p:extLst>
      <p:ext uri="{BB962C8B-B14F-4D97-AF65-F5344CB8AC3E}">
        <p14:creationId xmlns:p14="http://schemas.microsoft.com/office/powerpoint/2010/main" val="5078190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52</a:t>
            </a:fld>
            <a:endParaRPr spc="-19" dirty="0"/>
          </a:p>
        </p:txBody>
      </p:sp>
    </p:spTree>
    <p:extLst>
      <p:ext uri="{BB962C8B-B14F-4D97-AF65-F5344CB8AC3E}">
        <p14:creationId xmlns:p14="http://schemas.microsoft.com/office/powerpoint/2010/main" val="935885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53</a:t>
            </a:fld>
            <a:endParaRPr spc="-19" dirty="0"/>
          </a:p>
        </p:txBody>
      </p:sp>
    </p:spTree>
    <p:extLst>
      <p:ext uri="{BB962C8B-B14F-4D97-AF65-F5344CB8AC3E}">
        <p14:creationId xmlns:p14="http://schemas.microsoft.com/office/powerpoint/2010/main" val="37650619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54</a:t>
            </a:fld>
            <a:endParaRPr spc="-19" dirty="0"/>
          </a:p>
        </p:txBody>
      </p:sp>
    </p:spTree>
    <p:extLst>
      <p:ext uri="{BB962C8B-B14F-4D97-AF65-F5344CB8AC3E}">
        <p14:creationId xmlns:p14="http://schemas.microsoft.com/office/powerpoint/2010/main" val="178227104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BF540DD987DBB46B41A3EEC95962E0B" ma:contentTypeVersion="8" ma:contentTypeDescription="Create a new document." ma:contentTypeScope="" ma:versionID="485131afb7750b3224df565beaa39edc">
  <xsd:schema xmlns:xsd="http://www.w3.org/2001/XMLSchema" xmlns:xs="http://www.w3.org/2001/XMLSchema" xmlns:p="http://schemas.microsoft.com/office/2006/metadata/properties" xmlns:ns2="34900d9f-053c-457a-a373-ee946632d2b9" targetNamespace="http://schemas.microsoft.com/office/2006/metadata/properties" ma:root="true" ma:fieldsID="4db5bdd4125a8a19981b2a0c40677796" ns2:_="">
    <xsd:import namespace="34900d9f-053c-457a-a373-ee946632d2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00d9f-053c-457a-a373-ee946632d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8C3A72-BECB-40E6-8CA8-B55A69C01A2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CBEE2DE-4994-4D2A-88D5-F350405405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900d9f-053c-457a-a373-ee946632d2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1C00E3-9258-4469-8F1B-EAE666815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10381</TotalTime>
  <Words>1080</Words>
  <Application>Microsoft Office PowerPoint</Application>
  <PresentationFormat>On-screen Show (16:9)</PresentationFormat>
  <Paragraphs>209</Paragraphs>
  <Slides>54</Slides>
  <Notes>7</Notes>
  <HiddenSlides>0</HiddenSlides>
  <MMClips>0</MMClips>
  <ScaleCrop>false</ScaleCrop>
  <HeadingPairs>
    <vt:vector size="4" baseType="variant">
      <vt:variant>
        <vt:lpstr>Theme</vt:lpstr>
      </vt:variant>
      <vt:variant>
        <vt:i4>6</vt:i4>
      </vt:variant>
      <vt:variant>
        <vt:lpstr>Slide Titles</vt:lpstr>
      </vt:variant>
      <vt:variant>
        <vt:i4>54</vt:i4>
      </vt:variant>
    </vt:vector>
  </HeadingPairs>
  <TitlesOfParts>
    <vt:vector size="60" baseType="lpstr">
      <vt:lpstr>1_Office Theme</vt:lpstr>
      <vt:lpstr>2_Office Theme</vt:lpstr>
      <vt:lpstr>3_Office Theme</vt:lpstr>
      <vt:lpstr>4_Office Theme</vt:lpstr>
      <vt:lpstr>7_Office Theme</vt:lpstr>
      <vt:lpstr>8_Office Theme</vt:lpstr>
      <vt:lpstr>S2-23_AIMLCZG515: Distributed Machine Learning</vt:lpstr>
      <vt:lpstr>PowerPoint Presentation</vt:lpstr>
      <vt:lpstr>PowerPoint Presentation</vt:lpstr>
      <vt:lpstr>PowerPoint Presentation</vt:lpstr>
      <vt:lpstr>Welcome to AIMLCZG515</vt:lpstr>
      <vt:lpstr>Text Book</vt:lpstr>
      <vt:lpstr>Text Book</vt:lpstr>
      <vt:lpstr>Evaluation Plan</vt:lpstr>
      <vt:lpstr>Pedagogy</vt:lpstr>
      <vt:lpstr>Lab Plan </vt:lpstr>
      <vt:lpstr>Course Topics</vt:lpstr>
      <vt:lpstr>1. Foundations of Parallel and Distributed Computing 2. Data Parallelism vs. Model Parallelism 3. Algorithm Scaling Examples  4. Distributed Deep Learning Algorithms  5. Federated Learning</vt:lpstr>
      <vt:lpstr>Distributed Machine Learning </vt:lpstr>
      <vt:lpstr>Why Distributed Machine Learning? </vt:lpstr>
      <vt:lpstr>Why Distributed Machine Learning? </vt:lpstr>
      <vt:lpstr>Generate Images</vt:lpstr>
      <vt:lpstr>Generate Images</vt:lpstr>
      <vt:lpstr>Large-scale machine learning</vt:lpstr>
      <vt:lpstr>Data Partioning</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Batch Processing</vt:lpstr>
      <vt:lpstr>Batch Processing</vt:lpstr>
      <vt:lpstr>Multiprocessing Theory</vt:lpstr>
      <vt:lpstr>Batch Processing</vt:lpstr>
      <vt:lpstr>Batch Processing</vt:lpstr>
      <vt:lpstr>Consistency Patterns in Distributed Systems</vt:lpstr>
      <vt:lpstr>Why Distributed Systems Matter in machine learning</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pc</cp:lastModifiedBy>
  <cp:revision>146</cp:revision>
  <dcterms:created xsi:type="dcterms:W3CDTF">2021-03-10T15:42:36Z</dcterms:created>
  <dcterms:modified xsi:type="dcterms:W3CDTF">2024-06-24T02:42:40Z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y fmtid="{D5CDD505-2E9C-101B-9397-08002B2CF9AE}" pid="4" name="ContentTypeId">
    <vt:lpwstr>0x010100DBF540DD987DBB46B41A3EEC95962E0B</vt:lpwstr>
  </property>
</Properties>
</file>