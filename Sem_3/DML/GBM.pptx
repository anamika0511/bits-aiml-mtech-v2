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22.xml" ContentType="application/vnd.openxmlformats-officedocument.presentationml.slide+xml"/>
  <Override PartName="/ppt/slides/slide80.xml" ContentType="application/vnd.openxmlformats-officedocument.presentationml.slide+xml"/>
  <Override PartName="/ppt/slides/slide21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63.xml" ContentType="application/vnd.openxmlformats-officedocument.presentationml.slide+xml"/>
  <Override PartName="/ppt/slides/slide71.xml" ContentType="application/vnd.openxmlformats-officedocument.presentationml.slide+xml"/>
  <Override PartName="/ppt/slides/slide61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62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42.xml" ContentType="application/vnd.openxmlformats-officedocument.presentationml.slide+xml"/>
  <Override PartName="/ppt/slides/slide37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43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52.xml" ContentType="application/vnd.openxmlformats-officedocument.presentationml.slide+xml"/>
  <Override PartName="/ppt/slides/slide58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1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  <p:sldMasterId id="2147483667" r:id="rId2"/>
  </p:sldMasterIdLst>
  <p:notesMasterIdLst>
    <p:notesMasterId r:id="rId83"/>
  </p:notesMasterIdLst>
  <p:handoutMasterIdLst>
    <p:handoutMasterId r:id="rId84"/>
  </p:handoutMasterIdLst>
  <p:sldIdLst>
    <p:sldId id="256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07" r:id="rId32"/>
    <p:sldId id="308" r:id="rId33"/>
    <p:sldId id="309" r:id="rId34"/>
    <p:sldId id="311" r:id="rId35"/>
    <p:sldId id="312" r:id="rId36"/>
    <p:sldId id="313" r:id="rId37"/>
    <p:sldId id="314" r:id="rId38"/>
    <p:sldId id="310" r:id="rId39"/>
    <p:sldId id="334" r:id="rId40"/>
    <p:sldId id="335" r:id="rId41"/>
    <p:sldId id="336" r:id="rId42"/>
    <p:sldId id="337" r:id="rId43"/>
    <p:sldId id="338" r:id="rId44"/>
    <p:sldId id="339" r:id="rId45"/>
    <p:sldId id="340" r:id="rId46"/>
    <p:sldId id="341" r:id="rId47"/>
    <p:sldId id="342" r:id="rId48"/>
    <p:sldId id="343" r:id="rId49"/>
    <p:sldId id="344" r:id="rId50"/>
    <p:sldId id="345" r:id="rId51"/>
    <p:sldId id="346" r:id="rId52"/>
    <p:sldId id="347" r:id="rId53"/>
    <p:sldId id="348" r:id="rId54"/>
    <p:sldId id="349" r:id="rId55"/>
    <p:sldId id="350" r:id="rId56"/>
    <p:sldId id="351" r:id="rId57"/>
    <p:sldId id="417" r:id="rId58"/>
    <p:sldId id="418" r:id="rId59"/>
    <p:sldId id="352" r:id="rId60"/>
    <p:sldId id="353" r:id="rId61"/>
    <p:sldId id="359" r:id="rId62"/>
    <p:sldId id="354" r:id="rId63"/>
    <p:sldId id="355" r:id="rId64"/>
    <p:sldId id="356" r:id="rId65"/>
    <p:sldId id="357" r:id="rId66"/>
    <p:sldId id="358" r:id="rId67"/>
    <p:sldId id="360" r:id="rId68"/>
    <p:sldId id="361" r:id="rId69"/>
    <p:sldId id="362" r:id="rId70"/>
    <p:sldId id="363" r:id="rId71"/>
    <p:sldId id="364" r:id="rId72"/>
    <p:sldId id="365" r:id="rId73"/>
    <p:sldId id="366" r:id="rId74"/>
    <p:sldId id="367" r:id="rId75"/>
    <p:sldId id="368" r:id="rId76"/>
    <p:sldId id="369" r:id="rId77"/>
    <p:sldId id="370" r:id="rId78"/>
    <p:sldId id="371" r:id="rId79"/>
    <p:sldId id="372" r:id="rId80"/>
    <p:sldId id="373" r:id="rId81"/>
    <p:sldId id="416" r:id="rId82"/>
  </p:sldIdLst>
  <p:sldSz cx="9144000" cy="6858000" type="screen4x3"/>
  <p:notesSz cx="6858000" cy="911701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99CC"/>
    <a:srgbClr val="00D7D2"/>
    <a:srgbClr val="FF66FF"/>
    <a:srgbClr val="006600"/>
    <a:srgbClr val="008000"/>
    <a:srgbClr val="66CCFF"/>
    <a:srgbClr val="FF99FF"/>
    <a:srgbClr val="99CC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9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169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15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handoutMaster" Target="handoutMasters/handoutMaster1.xml"/><Relationship Id="rId89" Type="http://schemas.openxmlformats.org/officeDocument/2006/relationships/customXml" Target="../customXml/item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customXml" Target="../customXml/item2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9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5C283BF-0BA9-4AAD-8D3F-07F4DAFC450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84213"/>
            <a:ext cx="4557712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30700"/>
            <a:ext cx="50292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67BD4D-13A7-44ED-BF04-327BA14DA82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CFB756-5E79-44D0-A3FD-07662386315B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553280-E9B5-4529-AC08-074397BE5D29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1B43E3-6828-462B-A15E-90E214CFFFD1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687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687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44A158-2169-4D94-9858-9E3332431911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AA8203-8749-4A79-B31A-A8EB4DF19DA6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B2DA28-B224-47BD-AC28-682D73341F0A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5FC62D-7238-4053-B612-C122DAB0DA0A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23E7AF9-1FD7-46D0-9163-7E020B0992D4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1DBD43-AF5F-4F4E-B379-1EED6B54EA0A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325C0B-7B47-4DF2-8096-963C405FE387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3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3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CCFE872-8072-4992-BC76-188BD8071DD1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371600"/>
            <a:ext cx="3810000" cy="468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68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86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8339569-C54D-41F6-8779-E9FE5F1AC6BA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23EE38-C8CA-0C44-947F-F569C925BA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400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99F761-062A-B94A-8542-9F565EB6F27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514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13F882-12AF-7E45-A669-9397B47E14F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108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89993"/>
            <a:ext cx="4038600" cy="49361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89993"/>
            <a:ext cx="4038600" cy="49361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77FDFC-8405-6B4A-A08B-E3A56D1E6B3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275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523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4994"/>
            <a:ext cx="4040188" cy="4271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1523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54994"/>
            <a:ext cx="4041775" cy="4271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00A6AC-7802-B748-8BFC-963178D932F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2990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7975DF-1D7E-3D46-9FBF-32626F7C8B7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5836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C3B7F1-0188-A940-BF5D-66E37647A65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931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273F8A-3757-3D4C-A426-B0CD6A2F9C4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655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61F7F2-6097-5847-AD96-B9054D2B06F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847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24FC9C-2E47-5D47-95CF-45E1ACF1DBF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3362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2B54D-F174-1149-BF06-CD7DD5AF9AA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861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28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28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3881438"/>
            <a:ext cx="8229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cs typeface="+mn-cs"/>
              </a:rPr>
              <a:t>© Eric Xing @ CMU, 2005-2015</a:t>
            </a:r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800"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E5349-D7F5-4C1F-A5F4-CC997E27CB33}" type="slidenum"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047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28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881438"/>
            <a:ext cx="8229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cs typeface="+mn-cs"/>
              </a:rPr>
              <a:t>© Eric Xing @ CMU, 2005-2015</a:t>
            </a:r>
            <a:endParaRPr kumimoji="0" lang="en-US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800"/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6A1787-49D9-4C6E-B7C7-59753D4A4CE8}" type="slidenum"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2822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94419-EDFB-6F4E-A333-81B2AEE6155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810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CD1D9-C084-EE47-BD8D-261BE031B1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1102827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888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069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555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0985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0409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1019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853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4523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6684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8751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7621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4729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9765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5933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3518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73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344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050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7837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111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54017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8169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44970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4878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6693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6251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399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CD1D9-C084-EE47-BD8D-261BE031B1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6333439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8343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94060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94419-EDFB-6F4E-A333-81B2AEE6155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4406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94419-EDFB-6F4E-A333-81B2AEE6155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7035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94419-EDFB-6F4E-A333-81B2AEE6155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8248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94419-EDFB-6F4E-A333-81B2AEE6155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5808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CD1D9-C084-EE47-BD8D-261BE031B1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425209908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CD1D9-C084-EE47-BD8D-261BE031B1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3521141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CD1D9-C084-EE47-BD8D-261BE031B1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4529281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CD1D9-C084-EE47-BD8D-261BE031B1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05511452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CD1D9-C084-EE47-BD8D-261BE031B1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9938024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CD1D9-C084-EE47-BD8D-261BE031B1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2278269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426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89900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9377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1CD1D9-C084-EE47-BD8D-261BE031B1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74542330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2048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76558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182DA-637D-DA41-AAFB-68E5B7C2EF7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F56997-4F5F-5A42-B306-795126905AC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2875"/>
            <a:ext cx="2667000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Section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00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50" Type="http://schemas.openxmlformats.org/officeDocument/2006/relationships/slideLayout" Target="../slideLayouts/slideLayout62.xml"/><Relationship Id="rId55" Type="http://schemas.openxmlformats.org/officeDocument/2006/relationships/slideLayout" Target="../slideLayouts/slideLayout67.xml"/><Relationship Id="rId63" Type="http://schemas.openxmlformats.org/officeDocument/2006/relationships/theme" Target="../theme/theme2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3" Type="http://schemas.openxmlformats.org/officeDocument/2006/relationships/slideLayout" Target="../slideLayouts/slideLayout65.xml"/><Relationship Id="rId58" Type="http://schemas.openxmlformats.org/officeDocument/2006/relationships/slideLayout" Target="../slideLayouts/slideLayout70.xml"/><Relationship Id="rId5" Type="http://schemas.openxmlformats.org/officeDocument/2006/relationships/slideLayout" Target="../slideLayouts/slideLayout17.xml"/><Relationship Id="rId61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56" Type="http://schemas.openxmlformats.org/officeDocument/2006/relationships/slideLayout" Target="../slideLayouts/slideLayout68.xml"/><Relationship Id="rId8" Type="http://schemas.openxmlformats.org/officeDocument/2006/relationships/slideLayout" Target="../slideLayouts/slideLayout20.xml"/><Relationship Id="rId51" Type="http://schemas.openxmlformats.org/officeDocument/2006/relationships/slideLayout" Target="../slideLayouts/slideLayout63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66.xml"/><Relationship Id="rId6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Relationship Id="rId57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52" Type="http://schemas.openxmlformats.org/officeDocument/2006/relationships/slideLayout" Target="../slideLayouts/slideLayout64.xml"/><Relationship Id="rId6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68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Second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FF9933"/>
                </a:solidFill>
              </a:defRPr>
            </a:lvl1pPr>
          </a:lstStyle>
          <a:p>
            <a:endParaRPr lang="en-US"/>
          </a:p>
        </p:txBody>
      </p:sp>
      <p:sp>
        <p:nvSpPr>
          <p:cNvPr id="65541" name="Line 5"/>
          <p:cNvSpPr>
            <a:spLocks noChangeShapeType="1"/>
          </p:cNvSpPr>
          <p:nvPr/>
        </p:nvSpPr>
        <p:spPr bwMode="auto">
          <a:xfrm>
            <a:off x="533400" y="1295400"/>
            <a:ext cx="8077200" cy="0"/>
          </a:xfrm>
          <a:prstGeom prst="line">
            <a:avLst/>
          </a:prstGeom>
          <a:noFill/>
          <a:ln w="76200">
            <a:solidFill>
              <a:srgbClr val="FF5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fld id="{A16937E3-2D37-4145-B280-18E522600F4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FF0000"/>
              </a:buClr>
              <a:buFontTx/>
              <a:buChar char="•"/>
              <a:defRPr sz="1400">
                <a:solidFill>
                  <a:srgbClr val="CC6600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0000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CC00"/>
        </a:buClr>
        <a:buChar char="–"/>
        <a:defRPr sz="2800">
          <a:solidFill>
            <a:srgbClr val="333399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•"/>
        <a:defRPr sz="2400">
          <a:solidFill>
            <a:srgbClr val="006600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22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0760"/>
            <a:ext cx="8229600" cy="5044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7554B1-5E36-6045-A73E-011127FE28A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5/25/2024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12685" y="6356350"/>
            <a:ext cx="8694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598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  <p:sldLayoutId id="2147483692" r:id="rId25"/>
    <p:sldLayoutId id="2147483693" r:id="rId26"/>
    <p:sldLayoutId id="2147483694" r:id="rId27"/>
    <p:sldLayoutId id="2147483695" r:id="rId28"/>
    <p:sldLayoutId id="2147483696" r:id="rId29"/>
    <p:sldLayoutId id="2147483697" r:id="rId30"/>
    <p:sldLayoutId id="2147483698" r:id="rId31"/>
    <p:sldLayoutId id="2147483699" r:id="rId32"/>
    <p:sldLayoutId id="2147483700" r:id="rId33"/>
    <p:sldLayoutId id="2147483701" r:id="rId34"/>
    <p:sldLayoutId id="2147483702" r:id="rId35"/>
    <p:sldLayoutId id="2147483703" r:id="rId36"/>
    <p:sldLayoutId id="2147483704" r:id="rId37"/>
    <p:sldLayoutId id="2147483705" r:id="rId38"/>
    <p:sldLayoutId id="2147483706" r:id="rId39"/>
    <p:sldLayoutId id="2147483707" r:id="rId40"/>
    <p:sldLayoutId id="2147483708" r:id="rId41"/>
    <p:sldLayoutId id="2147483709" r:id="rId42"/>
    <p:sldLayoutId id="2147483710" r:id="rId43"/>
    <p:sldLayoutId id="2147483711" r:id="rId44"/>
    <p:sldLayoutId id="2147483712" r:id="rId45"/>
    <p:sldLayoutId id="2147483713" r:id="rId46"/>
    <p:sldLayoutId id="2147483714" r:id="rId47"/>
    <p:sldLayoutId id="2147483715" r:id="rId48"/>
    <p:sldLayoutId id="2147483716" r:id="rId49"/>
    <p:sldLayoutId id="2147483717" r:id="rId50"/>
    <p:sldLayoutId id="2147483718" r:id="rId51"/>
    <p:sldLayoutId id="2147483719" r:id="rId52"/>
    <p:sldLayoutId id="2147483720" r:id="rId53"/>
    <p:sldLayoutId id="2147483721" r:id="rId54"/>
    <p:sldLayoutId id="2147483722" r:id="rId55"/>
    <p:sldLayoutId id="2147483723" r:id="rId56"/>
    <p:sldLayoutId id="2147483724" r:id="rId57"/>
    <p:sldLayoutId id="2147483725" r:id="rId58"/>
    <p:sldLayoutId id="2147483726" r:id="rId59"/>
    <p:sldLayoutId id="2147483727" r:id="rId60"/>
    <p:sldLayoutId id="2147483728" r:id="rId61"/>
    <p:sldLayoutId id="2147483729" r:id="rId6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91FD97-0BC1-4F46-A8BD-4732B4B14019}" type="slidenum">
              <a:rPr lang="en-US"/>
              <a:pPr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717766" y="1699352"/>
            <a:ext cx="6485708" cy="665026"/>
          </a:xfrm>
        </p:spPr>
        <p:txBody>
          <a:bodyPr/>
          <a:lstStyle/>
          <a:p>
            <a:r>
              <a:rPr lang="en-US" b="1" smtClean="0"/>
              <a:t>Linear Regression</a:t>
            </a:r>
            <a:endParaRPr lang="en-US" b="1" dirty="0"/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2219038" y="2364378"/>
            <a:ext cx="4869209" cy="622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None/>
              <a:defRPr sz="2800">
                <a:solidFill>
                  <a:srgbClr val="333399"/>
                </a:solidFill>
                <a:latin typeface="+mn-lt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400">
                <a:solidFill>
                  <a:srgbClr val="006600"/>
                </a:solidFill>
                <a:latin typeface="+mn-lt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9pPr>
          </a:lstStyle>
          <a:p>
            <a:r>
              <a:rPr lang="en-US" sz="3600" kern="0" smtClean="0">
                <a:solidFill>
                  <a:srgbClr val="FF0000"/>
                </a:solidFill>
              </a:rPr>
              <a:t>Dr. V. Chandra Sekhar </a:t>
            </a:r>
            <a:endParaRPr lang="en-US" sz="3600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2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890031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Linear Regression is a simple and powerful model for predicting a numeric response from a set of one or more independent variables. </a:t>
            </a:r>
            <a:endParaRPr lang="en-US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/>
              <a:t>And </a:t>
            </a:r>
            <a:r>
              <a:rPr lang="en-US"/>
              <a:t>although it may seem like linear regression is overlooked in modern machine learning's ever-increasing world of complex neural network </a:t>
            </a:r>
            <a:r>
              <a:rPr lang="en-US" smtClean="0"/>
              <a:t>architectures.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/>
              <a:t>The </a:t>
            </a:r>
            <a:r>
              <a:rPr lang="en-US"/>
              <a:t>algorithm is still widely used across a large number of domains because it is </a:t>
            </a:r>
            <a:r>
              <a:rPr lang="en-US">
                <a:solidFill>
                  <a:srgbClr val="92D050"/>
                </a:solidFill>
              </a:rPr>
              <a:t>effective</a:t>
            </a:r>
            <a:r>
              <a:rPr lang="en-US"/>
              <a:t>, </a:t>
            </a:r>
            <a:r>
              <a:rPr lang="en-US">
                <a:solidFill>
                  <a:srgbClr val="7030A0"/>
                </a:solidFill>
              </a:rPr>
              <a:t>easy to interpret</a:t>
            </a:r>
            <a:r>
              <a:rPr lang="en-US"/>
              <a:t>, and </a:t>
            </a:r>
            <a:r>
              <a:rPr lang="en-US">
                <a:solidFill>
                  <a:schemeClr val="accent5">
                    <a:lumMod val="50000"/>
                  </a:schemeClr>
                </a:solidFill>
              </a:rPr>
              <a:t>easy to extend</a:t>
            </a:r>
            <a:r>
              <a:rPr lang="en-US"/>
              <a:t>. </a:t>
            </a:r>
            <a:endParaRPr lang="en-US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mtClean="0"/>
              <a:t>The </a:t>
            </a:r>
            <a:r>
              <a:rPr lang="en-US"/>
              <a:t>key ideas in linear regression are recycled everywhere, so understanding the algorithm is a must-have for a strong foundation in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157065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864"/>
            <a:ext cx="9144000" cy="416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1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9387"/>
            <a:ext cx="9144000" cy="422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8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7076"/>
            <a:ext cx="9144000" cy="417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4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0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975"/>
            <a:ext cx="9000309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2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73827" y="0"/>
            <a:ext cx="3631474" cy="444137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093" y="574766"/>
            <a:ext cx="6936376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0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8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60765" y="0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3" y="613954"/>
            <a:ext cx="7027817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1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9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2" y="862149"/>
            <a:ext cx="8695508" cy="59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2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10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326571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3" y="566329"/>
            <a:ext cx="8347166" cy="606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0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" y="164123"/>
            <a:ext cx="9135750" cy="669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4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9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8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4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701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1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095"/>
            <a:ext cx="8786191" cy="624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24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1" y="124381"/>
            <a:ext cx="8954750" cy="606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4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" y="98923"/>
            <a:ext cx="8812344" cy="64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3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74615" cy="691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7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080"/>
            <a:ext cx="9144000" cy="613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7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26" y="251969"/>
            <a:ext cx="7842988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0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4715"/>
            <a:ext cx="9144000" cy="236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3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8988"/>
            <a:ext cx="9144000" cy="306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3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2326"/>
            <a:ext cx="9144000" cy="337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5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292"/>
            <a:ext cx="9144000" cy="581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7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6667"/>
            <a:ext cx="9144000" cy="458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0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8296"/>
            <a:ext cx="9144000" cy="254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1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02" y="0"/>
            <a:ext cx="86745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5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445004-F4FB-5345-992E-498B4C43F5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230" y="352697"/>
            <a:ext cx="6035040" cy="600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30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45" y="1071154"/>
            <a:ext cx="8623255" cy="446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2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31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2" y="1109799"/>
            <a:ext cx="9049838" cy="20514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61" y="3499757"/>
            <a:ext cx="8880021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5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32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401895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6" y="548640"/>
            <a:ext cx="8965747" cy="28549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32321" y="3403556"/>
            <a:ext cx="45011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>
                <a:solidFill>
                  <a:srgbClr val="00B0F0"/>
                </a:solidFill>
              </a:rPr>
              <a:t>Learning The Coefficients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3980925"/>
            <a:ext cx="914399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/>
              <a:t>Let's recap what we've learned so far: Linear regression is all about finding a line (or surface) that fits our data well. </a:t>
            </a:r>
            <a:endParaRPr lang="en-IN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mtClean="0"/>
              <a:t>And </a:t>
            </a:r>
            <a:r>
              <a:rPr lang="en-IN"/>
              <a:t>as we just saw, this involves </a:t>
            </a:r>
            <a:r>
              <a:rPr lang="en-IN">
                <a:solidFill>
                  <a:srgbClr val="00B050"/>
                </a:solidFill>
              </a:rPr>
              <a:t>selecting the </a:t>
            </a:r>
            <a:r>
              <a:rPr lang="en-IN" smtClean="0">
                <a:solidFill>
                  <a:srgbClr val="00B050"/>
                </a:solidFill>
              </a:rPr>
              <a:t>coefficients </a:t>
            </a:r>
            <a:r>
              <a:rPr lang="en-IN"/>
              <a:t>for our model that </a:t>
            </a:r>
            <a:r>
              <a:rPr lang="en-IN">
                <a:solidFill>
                  <a:srgbClr val="FF99CC"/>
                </a:solidFill>
              </a:rPr>
              <a:t>minimize</a:t>
            </a:r>
            <a:r>
              <a:rPr lang="en-IN"/>
              <a:t> our evaluation metric. </a:t>
            </a:r>
            <a:endParaRPr lang="en-IN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mtClean="0"/>
              <a:t>But </a:t>
            </a:r>
            <a:r>
              <a:rPr lang="en-IN"/>
              <a:t>how can we best </a:t>
            </a:r>
            <a:r>
              <a:rPr lang="en-IN">
                <a:solidFill>
                  <a:srgbClr val="3366FF"/>
                </a:solidFill>
              </a:rPr>
              <a:t>estimate these coefficients</a:t>
            </a:r>
            <a:r>
              <a:rPr lang="en-IN"/>
              <a:t>? In practice, they're unknown, and selecting them by hand quickly becomes infeasible for regression models with many features. </a:t>
            </a:r>
          </a:p>
        </p:txBody>
      </p:sp>
    </p:spTree>
    <p:extLst>
      <p:ext uri="{BB962C8B-B14F-4D97-AF65-F5344CB8AC3E}">
        <p14:creationId xmlns:p14="http://schemas.microsoft.com/office/powerpoint/2010/main" val="259121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33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7" y="924332"/>
            <a:ext cx="8757693" cy="12179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5120"/>
            <a:ext cx="8918802" cy="17267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4679"/>
            <a:ext cx="9115425" cy="247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0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34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49"/>
            <a:ext cx="9144000" cy="344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7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35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575"/>
            <a:ext cx="9144000" cy="25020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" y="3579086"/>
            <a:ext cx="9115425" cy="282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8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36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20"/>
            <a:ext cx="9144000" cy="39071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38675"/>
            <a:ext cx="91440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7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37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40452" y="130629"/>
            <a:ext cx="7236006" cy="613954"/>
          </a:xfrm>
        </p:spPr>
        <p:txBody>
          <a:bodyPr/>
          <a:lstStyle/>
          <a:p>
            <a:r>
              <a:rPr lang="en-IN" smtClean="0"/>
              <a:t>Linear Regression : Gradient Descent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51" y="931137"/>
            <a:ext cx="8498749" cy="17075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51" y="2638698"/>
            <a:ext cx="8498749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2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38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Linear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095"/>
            <a:ext cx="9144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6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39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376058" cy="613954"/>
          </a:xfrm>
        </p:spPr>
        <p:txBody>
          <a:bodyPr/>
          <a:lstStyle/>
          <a:p>
            <a:r>
              <a:rPr lang="en-IN" smtClean="0"/>
              <a:t>Logistic  Regression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991999"/>
            <a:ext cx="928769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Söhne"/>
              </a:rPr>
              <a:t>Logistic regression is a statistical method for analyzing datasets in which there are one or more independent variables that determine an outcome. </a:t>
            </a:r>
            <a:endParaRPr lang="en-US" smtClean="0">
              <a:solidFill>
                <a:srgbClr val="0D0D0D"/>
              </a:solidFill>
              <a:latin typeface="Söhne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>
              <a:solidFill>
                <a:srgbClr val="0D0D0D"/>
              </a:solidFill>
              <a:latin typeface="Söhne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mtClean="0">
                <a:solidFill>
                  <a:srgbClr val="0D0D0D"/>
                </a:solidFill>
                <a:latin typeface="Söhne"/>
              </a:rPr>
              <a:t>The </a:t>
            </a:r>
            <a:r>
              <a:rPr lang="en-US">
                <a:solidFill>
                  <a:srgbClr val="0D0D0D"/>
                </a:solidFill>
                <a:latin typeface="Söhne"/>
              </a:rPr>
              <a:t>outcome is a binary variable, meaning it has two possible outcomes. </a:t>
            </a:r>
            <a:endParaRPr lang="en-US" smtClean="0">
              <a:solidFill>
                <a:srgbClr val="0D0D0D"/>
              </a:solidFill>
              <a:latin typeface="Söhne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>
              <a:solidFill>
                <a:srgbClr val="0D0D0D"/>
              </a:solidFill>
              <a:latin typeface="Söhne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mtClean="0">
                <a:solidFill>
                  <a:srgbClr val="0D0D0D"/>
                </a:solidFill>
                <a:latin typeface="Söhne"/>
              </a:rPr>
              <a:t>The </a:t>
            </a:r>
            <a:r>
              <a:rPr lang="en-US">
                <a:solidFill>
                  <a:srgbClr val="0D0D0D"/>
                </a:solidFill>
                <a:latin typeface="Söhne"/>
              </a:rPr>
              <a:t>model predicts the probability of a certain class or event, such as pass/fail, win/lose, alive/dead, etc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0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40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312123" y="143692"/>
            <a:ext cx="4258493" cy="613954"/>
          </a:xfrm>
        </p:spPr>
        <p:txBody>
          <a:bodyPr/>
          <a:lstStyle/>
          <a:p>
            <a:r>
              <a:rPr lang="en-IN" smtClean="0"/>
              <a:t>Logistic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78" y="1123405"/>
            <a:ext cx="8783682" cy="551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3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41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2" y="117566"/>
            <a:ext cx="4323807" cy="613954"/>
          </a:xfrm>
        </p:spPr>
        <p:txBody>
          <a:bodyPr/>
          <a:lstStyle/>
          <a:p>
            <a:r>
              <a:rPr lang="en-IN" smtClean="0"/>
              <a:t>Logistic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17" y="1399086"/>
            <a:ext cx="8974183" cy="299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7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42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 smtClean="0"/>
              <a:t>Logistic 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9109"/>
            <a:ext cx="8856616" cy="459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6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43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 smtClean="0"/>
              <a:t>Logistic  Regression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20"/>
            <a:ext cx="8948057" cy="451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2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44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 smtClean="0"/>
              <a:t>Logistic 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20"/>
            <a:ext cx="9143999" cy="4076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4511"/>
            <a:ext cx="9013371" cy="92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45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 smtClean="0"/>
              <a:t>Logistic 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934"/>
            <a:ext cx="9144000" cy="394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6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46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 smtClean="0"/>
              <a:t>Loss function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-39190" y="731520"/>
            <a:ext cx="92354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D0D0D"/>
                </a:solidFill>
                <a:latin typeface="Söhne"/>
              </a:rPr>
              <a:t>The cost function in logistic regression, also known as the log loss or binary cross-entropy loss, measures the performance of a classification model whose output is a probability value between 0 and 1. </a:t>
            </a:r>
            <a:endParaRPr lang="en-US" smtClean="0">
              <a:solidFill>
                <a:srgbClr val="0D0D0D"/>
              </a:solidFill>
              <a:latin typeface="Söhne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>
              <a:solidFill>
                <a:srgbClr val="0D0D0D"/>
              </a:solidFill>
              <a:latin typeface="Söhne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mtClean="0">
                <a:solidFill>
                  <a:srgbClr val="0D0D0D"/>
                </a:solidFill>
                <a:latin typeface="Söhne"/>
              </a:rPr>
              <a:t>The </a:t>
            </a:r>
            <a:r>
              <a:rPr lang="en-US">
                <a:solidFill>
                  <a:srgbClr val="0D0D0D"/>
                </a:solidFill>
                <a:latin typeface="Söhne"/>
              </a:rPr>
              <a:t>cost function quantifies the error between the predicted probabilities and the actual binary labels. </a:t>
            </a:r>
            <a:endParaRPr lang="en-US" smtClean="0">
              <a:solidFill>
                <a:srgbClr val="0D0D0D"/>
              </a:solidFill>
              <a:latin typeface="Söhne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>
              <a:solidFill>
                <a:srgbClr val="0D0D0D"/>
              </a:solidFill>
              <a:latin typeface="Söhne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mtClean="0">
                <a:solidFill>
                  <a:srgbClr val="0D0D0D"/>
                </a:solidFill>
                <a:latin typeface="Söhne"/>
              </a:rPr>
              <a:t>Minimizing </a:t>
            </a:r>
            <a:r>
              <a:rPr lang="en-US">
                <a:solidFill>
                  <a:srgbClr val="0D0D0D"/>
                </a:solidFill>
                <a:latin typeface="Söhne"/>
              </a:rPr>
              <a:t>this cost function helps to fit the logistic regression model to the training data.</a:t>
            </a:r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54" y="3727094"/>
            <a:ext cx="8375878" cy="280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4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47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 smtClean="0"/>
              <a:t>Logistic 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8237"/>
            <a:ext cx="9144000" cy="551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95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48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 smtClean="0"/>
              <a:t>Logistic 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863"/>
            <a:ext cx="9144000" cy="408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49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/>
              <a:t>Summary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7566" y="731520"/>
            <a:ext cx="84516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mtClean="0"/>
              <a:t>The </a:t>
            </a:r>
            <a:r>
              <a:rPr lang="en-IN"/>
              <a:t>cost function in logistic regression measures the error between the predicted probabilities and the actual binary labels.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/>
              <a:t>It penalizes wrong predictions more heavily, encouraging the model to produce probabilities closer to the true labels.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/>
              <a:t>By minimizing this cost function using optimization techniques like gradient descent, we can fit the logistic regression model to the training data, resulting in accurate predictions on new data.</a:t>
            </a:r>
          </a:p>
        </p:txBody>
      </p:sp>
    </p:spTree>
    <p:extLst>
      <p:ext uri="{BB962C8B-B14F-4D97-AF65-F5344CB8AC3E}">
        <p14:creationId xmlns:p14="http://schemas.microsoft.com/office/powerpoint/2010/main" val="274875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50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/>
              <a:t>Summary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496"/>
            <a:ext cx="9144000" cy="425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3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51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/>
              <a:t>Summary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20"/>
            <a:ext cx="91440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0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52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/>
              <a:t>Summary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20"/>
            <a:ext cx="914400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8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53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/>
              <a:t>Summary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520"/>
            <a:ext cx="9144000" cy="486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9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54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4219304" cy="613954"/>
          </a:xfrm>
        </p:spPr>
        <p:txBody>
          <a:bodyPr/>
          <a:lstStyle/>
          <a:p>
            <a:r>
              <a:rPr lang="en-IN"/>
              <a:t>Summary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492"/>
            <a:ext cx="9144000" cy="413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5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55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5230" y="88785"/>
            <a:ext cx="5055327" cy="633548"/>
          </a:xfrm>
        </p:spPr>
        <p:txBody>
          <a:bodyPr/>
          <a:lstStyle/>
          <a:p>
            <a:r>
              <a:rPr lang="en-IN"/>
              <a:t>Polynomial </a:t>
            </a:r>
            <a:r>
              <a:rPr lang="en-IN" smtClean="0"/>
              <a:t>Regression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333"/>
            <a:ext cx="8849815" cy="32800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731" y="3859463"/>
            <a:ext cx="4790670" cy="101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0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56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5230" y="88785"/>
            <a:ext cx="5055327" cy="633548"/>
          </a:xfrm>
        </p:spPr>
        <p:txBody>
          <a:bodyPr/>
          <a:lstStyle/>
          <a:p>
            <a:r>
              <a:rPr lang="en-IN"/>
              <a:t>Polynomial </a:t>
            </a:r>
            <a:r>
              <a:rPr lang="en-IN" smtClean="0"/>
              <a:t>Regression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558" y="1037886"/>
            <a:ext cx="4790670" cy="101822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84" y="2262868"/>
            <a:ext cx="796290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5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57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135230" y="88785"/>
            <a:ext cx="5055327" cy="633548"/>
          </a:xfrm>
        </p:spPr>
        <p:txBody>
          <a:bodyPr/>
          <a:lstStyle/>
          <a:p>
            <a:r>
              <a:rPr lang="en-IN"/>
              <a:t>Polynomial </a:t>
            </a:r>
            <a:r>
              <a:rPr lang="en-IN" smtClean="0"/>
              <a:t>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99" y="1021897"/>
            <a:ext cx="7962900" cy="2478949"/>
          </a:xfrm>
          <a:prstGeom prst="rect">
            <a:avLst/>
          </a:prstGeom>
        </p:spPr>
      </p:pic>
      <p:pic>
        <p:nvPicPr>
          <p:cNvPr id="3074" name="Picture 2" descr="https://miro.medium.com/v2/resize:fit:466/1*coks7fQGg5f5KqRlxWLyvA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327" y="3800410"/>
            <a:ext cx="7391131" cy="225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63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58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094516" cy="613954"/>
          </a:xfrm>
        </p:spPr>
        <p:txBody>
          <a:bodyPr/>
          <a:lstStyle/>
          <a:p>
            <a:r>
              <a:rPr lang="en-IN"/>
              <a:t>Polynomial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976"/>
            <a:ext cx="8882743" cy="497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0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59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094516" cy="613954"/>
          </a:xfrm>
        </p:spPr>
        <p:txBody>
          <a:bodyPr/>
          <a:lstStyle/>
          <a:p>
            <a:r>
              <a:rPr lang="en-IN"/>
              <a:t>Polynomial Regression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1" y="684438"/>
            <a:ext cx="8913223" cy="433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60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094516" cy="613954"/>
          </a:xfrm>
        </p:spPr>
        <p:txBody>
          <a:bodyPr/>
          <a:lstStyle/>
          <a:p>
            <a:r>
              <a:rPr lang="en-IN"/>
              <a:t>Polynomial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96" y="684438"/>
            <a:ext cx="7219950" cy="30034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3692" y="3687901"/>
            <a:ext cx="90003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mtClean="0"/>
              <a:t>Polynomial </a:t>
            </a:r>
            <a:r>
              <a:rPr lang="en-IN"/>
              <a:t>Regression is a form of regression analysis in which the relationship between the independent variables and dependent variables are modeled in the n</a:t>
            </a:r>
            <a:r>
              <a:rPr lang="en-IN" baseline="30000"/>
              <a:t>th</a:t>
            </a:r>
            <a:r>
              <a:rPr lang="en-IN"/>
              <a:t> degree polynomial.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/>
              <a:t>Polynomial Regression models are usually fit with the method of least </a:t>
            </a:r>
            <a:r>
              <a:rPr lang="en-IN"/>
              <a:t>squares</a:t>
            </a:r>
            <a:r>
              <a:rPr lang="en-IN" smtClean="0"/>
              <a:t>. The </a:t>
            </a:r>
            <a:r>
              <a:rPr lang="en-IN"/>
              <a:t>least square method minimizes the variance of the </a:t>
            </a:r>
            <a:r>
              <a:rPr lang="en-IN"/>
              <a:t>coefficients</a:t>
            </a:r>
            <a:r>
              <a:rPr lang="en-IN" smtClean="0"/>
              <a:t>, under </a:t>
            </a:r>
            <a:r>
              <a:rPr lang="en-IN"/>
              <a:t>the Gauss Markov Theorem.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/>
              <a:t>Polynomial Regression is a special case of Linear Regression where we fit the polynomial equation on the data with a curvilinear relationship between the dependent and independent variables.</a:t>
            </a:r>
          </a:p>
        </p:txBody>
      </p:sp>
    </p:spTree>
    <p:extLst>
      <p:ext uri="{BB962C8B-B14F-4D97-AF65-F5344CB8AC3E}">
        <p14:creationId xmlns:p14="http://schemas.microsoft.com/office/powerpoint/2010/main" val="6889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61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094516" cy="613954"/>
          </a:xfrm>
        </p:spPr>
        <p:txBody>
          <a:bodyPr/>
          <a:lstStyle/>
          <a:p>
            <a:r>
              <a:rPr lang="en-IN"/>
              <a:t>Polynomial Regression</a:t>
            </a:r>
            <a:endParaRPr lang="en-US" dirty="0"/>
          </a:p>
        </p:txBody>
      </p:sp>
      <p:pic>
        <p:nvPicPr>
          <p:cNvPr id="1026" name="Picture 2" descr="Output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699" y="816452"/>
            <a:ext cx="3471343" cy="273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miro.medium.com/v2/resize:fit:721/1*mPJjojuDRrLODKnBnt4Lv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407" y="3619499"/>
            <a:ext cx="5495925" cy="300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2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62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094516" cy="613954"/>
          </a:xfrm>
        </p:spPr>
        <p:txBody>
          <a:bodyPr/>
          <a:lstStyle/>
          <a:p>
            <a:r>
              <a:rPr lang="en-IN"/>
              <a:t>Polynomial Regression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475"/>
            <a:ext cx="8948057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5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63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094516" cy="613954"/>
          </a:xfrm>
        </p:spPr>
        <p:txBody>
          <a:bodyPr/>
          <a:lstStyle/>
          <a:p>
            <a:r>
              <a:rPr lang="en-IN"/>
              <a:t>Polynomial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8252"/>
            <a:ext cx="8695509" cy="564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3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64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094516" cy="613954"/>
          </a:xfrm>
        </p:spPr>
        <p:txBody>
          <a:bodyPr/>
          <a:lstStyle/>
          <a:p>
            <a:r>
              <a:rPr lang="en-IN"/>
              <a:t>Polynomial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438"/>
            <a:ext cx="9144000" cy="408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7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65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094516" cy="613954"/>
          </a:xfrm>
        </p:spPr>
        <p:txBody>
          <a:bodyPr/>
          <a:lstStyle/>
          <a:p>
            <a:r>
              <a:rPr lang="en-IN"/>
              <a:t>Polynomial Regression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84438"/>
            <a:ext cx="9143999" cy="30543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658" y="3738833"/>
            <a:ext cx="9176657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9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66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436912" y="319496"/>
            <a:ext cx="5812973" cy="613954"/>
          </a:xfrm>
        </p:spPr>
        <p:txBody>
          <a:bodyPr/>
          <a:lstStyle/>
          <a:p>
            <a:r>
              <a:rPr lang="en-IN" smtClean="0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6" y="1390650"/>
            <a:ext cx="8830491" cy="470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8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67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408024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438"/>
            <a:ext cx="9144000" cy="599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0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68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551716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603"/>
            <a:ext cx="9000309" cy="428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9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69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408024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3269"/>
            <a:ext cx="91440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4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70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2" y="70484"/>
            <a:ext cx="5394961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1" y="894533"/>
            <a:ext cx="8832668" cy="14045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1" y="2299062"/>
            <a:ext cx="8832668" cy="274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14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71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564778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8073"/>
            <a:ext cx="9144000" cy="498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5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72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2" y="70484"/>
            <a:ext cx="5447213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5281"/>
            <a:ext cx="9144000" cy="461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0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73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2" y="70484"/>
            <a:ext cx="5682345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4470"/>
            <a:ext cx="9144000" cy="34123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293" y="4576901"/>
            <a:ext cx="8893493" cy="117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8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74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2" y="70484"/>
            <a:ext cx="5512527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568"/>
            <a:ext cx="9041946" cy="338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75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3" y="70484"/>
            <a:ext cx="5381898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438"/>
            <a:ext cx="9026433" cy="39438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9" y="4831080"/>
            <a:ext cx="8914854" cy="156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83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76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2" y="70484"/>
            <a:ext cx="5394961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842"/>
            <a:ext cx="9000309" cy="43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0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77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2" y="70484"/>
            <a:ext cx="5486401" cy="613954"/>
          </a:xfrm>
        </p:spPr>
        <p:txBody>
          <a:bodyPr/>
          <a:lstStyle/>
          <a:p>
            <a:r>
              <a:rPr lang="en-IN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438"/>
            <a:ext cx="9144000" cy="426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7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78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2" y="70484"/>
            <a:ext cx="5852161" cy="613954"/>
          </a:xfrm>
        </p:spPr>
        <p:txBody>
          <a:bodyPr/>
          <a:lstStyle/>
          <a:p>
            <a:r>
              <a:rPr lang="en-IN"/>
              <a:t>Lasso and </a:t>
            </a:r>
            <a:r>
              <a:rPr lang="en-IN"/>
              <a:t>Ridge </a:t>
            </a:r>
            <a:r>
              <a:rPr lang="en-IN" smtClean="0"/>
              <a:t>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3" y="907869"/>
            <a:ext cx="8869679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4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79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94112" y="70484"/>
            <a:ext cx="5512527" cy="613954"/>
          </a:xfrm>
        </p:spPr>
        <p:txBody>
          <a:bodyPr/>
          <a:lstStyle/>
          <a:p>
            <a:r>
              <a:rPr lang="en-IN" smtClean="0"/>
              <a:t>Lasso and Ridge Regression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5092"/>
            <a:ext cx="9144000" cy="270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5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80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063930" y="2905124"/>
            <a:ext cx="5094516" cy="613954"/>
          </a:xfrm>
        </p:spPr>
        <p:txBody>
          <a:bodyPr/>
          <a:lstStyle/>
          <a:p>
            <a:r>
              <a:rPr lang="en-IN" smtClean="0"/>
              <a:t>Regression Ends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18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els">
  <a:themeElements>
    <a:clrScheme name="">
      <a:dk1>
        <a:srgbClr val="000000"/>
      </a:dk1>
      <a:lt1>
        <a:srgbClr val="FFFFFF"/>
      </a:lt1>
      <a:dk2>
        <a:srgbClr val="3333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66"/>
      </a:hlink>
      <a:folHlink>
        <a:srgbClr val="B2B2B2"/>
      </a:folHlink>
    </a:clrScheme>
    <a:fontScheme name="model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odels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s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noAutofit/>
      </a:bodyPr>
      <a:lstStyle>
        <a:defPPr algn="ctr">
          <a:defRPr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F540DD987DBB46B41A3EEC95962E0B" ma:contentTypeVersion="8" ma:contentTypeDescription="Create a new document." ma:contentTypeScope="" ma:versionID="485131afb7750b3224df565beaa39edc">
  <xsd:schema xmlns:xsd="http://www.w3.org/2001/XMLSchema" xmlns:xs="http://www.w3.org/2001/XMLSchema" xmlns:p="http://schemas.microsoft.com/office/2006/metadata/properties" xmlns:ns2="34900d9f-053c-457a-a373-ee946632d2b9" targetNamespace="http://schemas.microsoft.com/office/2006/metadata/properties" ma:root="true" ma:fieldsID="4db5bdd4125a8a19981b2a0c40677796" ns2:_="">
    <xsd:import namespace="34900d9f-053c-457a-a373-ee946632d2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900d9f-053c-457a-a373-ee946632d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530A52-7C8A-4ADD-9C4F-A503A1BB06B4}"/>
</file>

<file path=customXml/itemProps2.xml><?xml version="1.0" encoding="utf-8"?>
<ds:datastoreItem xmlns:ds="http://schemas.openxmlformats.org/officeDocument/2006/customXml" ds:itemID="{A7950F96-0602-4772-8EAC-90B4484F17B1}"/>
</file>

<file path=customXml/itemProps3.xml><?xml version="1.0" encoding="utf-8"?>
<ds:datastoreItem xmlns:ds="http://schemas.openxmlformats.org/officeDocument/2006/customXml" ds:itemID="{571B6696-2216-451F-BEB9-59C553939950}"/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Documents\Powerpoint\IR Course\models.ppt</Template>
  <TotalTime>14883</TotalTime>
  <Words>690</Words>
  <Application>Microsoft Office PowerPoint</Application>
  <PresentationFormat>On-screen Show (4:3)</PresentationFormat>
  <Paragraphs>171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80</vt:i4>
      </vt:variant>
    </vt:vector>
  </HeadingPairs>
  <TitlesOfParts>
    <vt:vector size="88" baseType="lpstr">
      <vt:lpstr>Arial</vt:lpstr>
      <vt:lpstr>Candara</vt:lpstr>
      <vt:lpstr>Helvetica</vt:lpstr>
      <vt:lpstr>Söhne</vt:lpstr>
      <vt:lpstr>华文楷体</vt:lpstr>
      <vt:lpstr>Times New Roman</vt:lpstr>
      <vt:lpstr>models</vt:lpstr>
      <vt:lpstr>Office Theme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 : Gradient Descent</vt:lpstr>
      <vt:lpstr>Linear Regression</vt:lpstr>
      <vt:lpstr>Logistic  Regression</vt:lpstr>
      <vt:lpstr>Logistic Regression</vt:lpstr>
      <vt:lpstr>Logistic Regression</vt:lpstr>
      <vt:lpstr>Logistic  Regression</vt:lpstr>
      <vt:lpstr>Logistic  Regression</vt:lpstr>
      <vt:lpstr>Logistic  Regression</vt:lpstr>
      <vt:lpstr>Logistic  Regression</vt:lpstr>
      <vt:lpstr>Loss function</vt:lpstr>
      <vt:lpstr>Logistic  Regression</vt:lpstr>
      <vt:lpstr>Logistic  Regression</vt:lpstr>
      <vt:lpstr>Summary</vt:lpstr>
      <vt:lpstr>Summary</vt:lpstr>
      <vt:lpstr>Summary</vt:lpstr>
      <vt:lpstr>Summary</vt:lpstr>
      <vt:lpstr>Summary</vt:lpstr>
      <vt:lpstr>Summary</vt:lpstr>
      <vt:lpstr>Polynomial Regression</vt:lpstr>
      <vt:lpstr>Polynomial Regression</vt:lpstr>
      <vt:lpstr>Polynomial Regression</vt:lpstr>
      <vt:lpstr>Polynomial Regression</vt:lpstr>
      <vt:lpstr>Polynomial Regression</vt:lpstr>
      <vt:lpstr>Polynomial Regression</vt:lpstr>
      <vt:lpstr>Polynomial Regression</vt:lpstr>
      <vt:lpstr>Polynomial Regression</vt:lpstr>
      <vt:lpstr>Polynomial Regression</vt:lpstr>
      <vt:lpstr>Polynomial Regression</vt:lpstr>
      <vt:lpstr>Polynomial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Lasso and Ridge Regression</vt:lpstr>
      <vt:lpstr>Regression Ends</vt:lpstr>
    </vt:vector>
  </TitlesOfParts>
  <Company>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Information Retrieval and Web Search</dc:title>
  <dc:creator>Raymond Mooney</dc:creator>
  <cp:lastModifiedBy>pc</cp:lastModifiedBy>
  <cp:revision>552</cp:revision>
  <cp:lastPrinted>1601-01-01T00:00:00Z</cp:lastPrinted>
  <dcterms:created xsi:type="dcterms:W3CDTF">2001-05-20T22:11:52Z</dcterms:created>
  <dcterms:modified xsi:type="dcterms:W3CDTF">2024-05-25T11:15:34Z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0x010100DBF540DD987DBB46B41A3EEC95962E0B</vt:lpwstr>
  </property>
</Properties>
</file>